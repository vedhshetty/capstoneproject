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0" r:id="rId2"/>
    <p:sldId id="4421" r:id="rId3"/>
    <p:sldId id="4422" r:id="rId4"/>
    <p:sldId id="4423" r:id="rId5"/>
    <p:sldId id="4424" r:id="rId6"/>
    <p:sldId id="4425" r:id="rId7"/>
    <p:sldId id="4428" r:id="rId8"/>
    <p:sldId id="4426" r:id="rId9"/>
    <p:sldId id="4429" r:id="rId10"/>
    <p:sldId id="4430" r:id="rId11"/>
    <p:sldId id="4431" r:id="rId12"/>
    <p:sldId id="4432" r:id="rId13"/>
    <p:sldId id="4433" r:id="rId14"/>
    <p:sldId id="4434" r:id="rId15"/>
    <p:sldId id="4435" r:id="rId16"/>
    <p:sldId id="4436" r:id="rId17"/>
    <p:sldId id="4437" r:id="rId18"/>
    <p:sldId id="443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E43526C-0BE2-4501-B299-0020417DDA54}">
          <p14:sldIdLst>
            <p14:sldId id="260"/>
            <p14:sldId id="4421"/>
            <p14:sldId id="4422"/>
            <p14:sldId id="4423"/>
            <p14:sldId id="4424"/>
            <p14:sldId id="4425"/>
            <p14:sldId id="4428"/>
            <p14:sldId id="4426"/>
            <p14:sldId id="4429"/>
            <p14:sldId id="4430"/>
            <p14:sldId id="4431"/>
            <p14:sldId id="4432"/>
            <p14:sldId id="4433"/>
            <p14:sldId id="4434"/>
            <p14:sldId id="4435"/>
            <p14:sldId id="4436"/>
            <p14:sldId id="4437"/>
            <p14:sldId id="44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ghavendra K" userId="33e83220-6405-4fd6-9ff8-8bc3593ea1b7" providerId="ADAL" clId="{3E0B36D1-B71C-485F-BC5C-DE26605EABB7}"/>
    <pc:docChg chg="custSel modSld">
      <pc:chgData name="Raghavendra K" userId="33e83220-6405-4fd6-9ff8-8bc3593ea1b7" providerId="ADAL" clId="{3E0B36D1-B71C-485F-BC5C-DE26605EABB7}" dt="2024-09-03T07:20:02.427" v="91" actId="20577"/>
      <pc:docMkLst>
        <pc:docMk/>
      </pc:docMkLst>
      <pc:sldChg chg="modSp mod">
        <pc:chgData name="Raghavendra K" userId="33e83220-6405-4fd6-9ff8-8bc3593ea1b7" providerId="ADAL" clId="{3E0B36D1-B71C-485F-BC5C-DE26605EABB7}" dt="2024-09-03T07:20:02.427" v="91" actId="20577"/>
        <pc:sldMkLst>
          <pc:docMk/>
          <pc:sldMk cId="0" sldId="260"/>
        </pc:sldMkLst>
      </pc:sldChg>
    </pc:docChg>
  </pc:docChgLst>
  <pc:docChgLst>
    <pc:chgData name="Raghavendra K" userId="33e83220-6405-4fd6-9ff8-8bc3593ea1b7" providerId="ADAL" clId="{8A5785CB-577F-4B60-9AC0-BEE165E210B1}"/>
    <pc:docChg chg="modSld">
      <pc:chgData name="Raghavendra K" userId="33e83220-6405-4fd6-9ff8-8bc3593ea1b7" providerId="ADAL" clId="{8A5785CB-577F-4B60-9AC0-BEE165E210B1}" dt="2024-11-27T12:03:16.739" v="19" actId="20577"/>
      <pc:docMkLst>
        <pc:docMk/>
      </pc:docMkLst>
      <pc:sldChg chg="modSp mod">
        <pc:chgData name="Raghavendra K" userId="33e83220-6405-4fd6-9ff8-8bc3593ea1b7" providerId="ADAL" clId="{8A5785CB-577F-4B60-9AC0-BEE165E210B1}" dt="2024-11-27T12:03:16.739" v="19" actId="20577"/>
        <pc:sldMkLst>
          <pc:docMk/>
          <pc:sldMk cId="0" sldId="260"/>
        </pc:sldMkLst>
        <pc:spChg chg="mod">
          <ac:chgData name="Raghavendra K" userId="33e83220-6405-4fd6-9ff8-8bc3593ea1b7" providerId="ADAL" clId="{8A5785CB-577F-4B60-9AC0-BEE165E210B1}" dt="2024-11-27T12:03:02.027" v="11" actId="20577"/>
          <ac:spMkLst>
            <pc:docMk/>
            <pc:sldMk cId="0" sldId="260"/>
            <ac:spMk id="6" creationId="{00000000-0000-0000-0000-000000000000}"/>
          </ac:spMkLst>
        </pc:spChg>
        <pc:spChg chg="mod">
          <ac:chgData name="Raghavendra K" userId="33e83220-6405-4fd6-9ff8-8bc3593ea1b7" providerId="ADAL" clId="{8A5785CB-577F-4B60-9AC0-BEE165E210B1}" dt="2024-11-27T12:03:16.739" v="19" actId="20577"/>
          <ac:spMkLst>
            <pc:docMk/>
            <pc:sldMk cId="0" sldId="260"/>
            <ac:spMk id="7" creationId="{00000000-0000-0000-0000-000000000000}"/>
          </ac:spMkLst>
        </pc:spChg>
      </pc:sldChg>
    </pc:docChg>
  </pc:docChgLst>
  <pc:docChgLst>
    <pc:chgData name="Raghavendra K" userId="33e83220-6405-4fd6-9ff8-8bc3593ea1b7" providerId="ADAL" clId="{ABA22749-26CE-4BB8-A881-85C53E80DE60}"/>
    <pc:docChg chg="modSld">
      <pc:chgData name="Raghavendra K" userId="33e83220-6405-4fd6-9ff8-8bc3593ea1b7" providerId="ADAL" clId="{ABA22749-26CE-4BB8-A881-85C53E80DE60}" dt="2025-02-15T08:41:06.850" v="43" actId="20577"/>
      <pc:docMkLst>
        <pc:docMk/>
      </pc:docMkLst>
      <pc:sldChg chg="modSp mod">
        <pc:chgData name="Raghavendra K" userId="33e83220-6405-4fd6-9ff8-8bc3593ea1b7" providerId="ADAL" clId="{ABA22749-26CE-4BB8-A881-85C53E80DE60}" dt="2025-02-15T08:41:06.850" v="43" actId="20577"/>
        <pc:sldMkLst>
          <pc:docMk/>
          <pc:sldMk cId="0" sldId="260"/>
        </pc:sldMkLst>
        <pc:spChg chg="mod">
          <ac:chgData name="Raghavendra K" userId="33e83220-6405-4fd6-9ff8-8bc3593ea1b7" providerId="ADAL" clId="{ABA22749-26CE-4BB8-A881-85C53E80DE60}" dt="2025-02-15T08:41:06.850" v="43" actId="20577"/>
          <ac:spMkLst>
            <pc:docMk/>
            <pc:sldMk cId="0" sldId="260"/>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25B-E41B-77C0-1A23-7FE91583A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84B7F-BF54-53DE-5ED7-2CDED8A4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18E42-7938-EBF6-0BBB-C03E98259DAE}"/>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9274C66D-7C77-1BC2-E297-5581F607B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71FE2-01D7-8CFA-F772-2A12DADA9511}"/>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1897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414-E7DE-B18D-3123-DBD0283DA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AEC70-B92A-CC7C-576E-A961A566D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0CFBF-3986-2ECA-DC6E-B0EB5EEAE220}"/>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BB5622A7-D018-3314-6712-AC0A3E326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DF858B-9E65-33C3-1330-DDC559B7F2B8}"/>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1171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9EF2-BE12-339C-53A6-D7F37ED5D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5EA9B6-8FA8-149E-9646-FB301CFB1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325791-C68A-6622-2CC5-3C0B283338D8}"/>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797CB1C5-90B9-0823-9015-AF5F09CF9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39B8B6-BAA6-240F-60BE-518B08A68FF3}"/>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26310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3121-A2A6-067F-9BB5-431330CD0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61458-6F42-1FC6-02A5-B26BB0448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A9E45-D816-7EFD-3CAA-178E16FA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34DE17-8AF8-1452-3C2B-1E8AC11C05C7}"/>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F8F04EE6-8A95-F57F-A192-3DE3AA413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7B0C8-4507-0579-A941-6A255E92B46F}"/>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73188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41E2-A077-4FE6-C0D3-E53AD7692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8D9F13-A5D4-37A3-1493-299424981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5EE514-EB19-276A-D5A5-AD3B45285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ECFBA-4BCE-DB10-1A82-A2D64F058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B50E7-10C2-3309-2CDC-0F66334ED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1554FF-26AD-988B-1BE6-17295ED2C712}"/>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8" name="Footer Placeholder 7">
            <a:extLst>
              <a:ext uri="{FF2B5EF4-FFF2-40B4-BE49-F238E27FC236}">
                <a16:creationId xmlns:a16="http://schemas.microsoft.com/office/drawing/2014/main" id="{62EB7DB9-3BFA-EEC0-380B-FF6C9131A6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18BED0-2F21-3460-79B8-7290A76A4675}"/>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4707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0D88-D9A6-E2BA-4D07-31B2E1E8C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9C88D8-4119-A0E3-1E19-520074B60AB6}"/>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4" name="Footer Placeholder 3">
            <a:extLst>
              <a:ext uri="{FF2B5EF4-FFF2-40B4-BE49-F238E27FC236}">
                <a16:creationId xmlns:a16="http://schemas.microsoft.com/office/drawing/2014/main" id="{4EBD6728-10D0-DD4F-070F-D8887DC407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1F0AF4-0EB8-E3C6-BC9D-0F225B0D668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13791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6305AF-CB28-6234-0989-07022337F2C8}"/>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3" name="Footer Placeholder 2">
            <a:extLst>
              <a:ext uri="{FF2B5EF4-FFF2-40B4-BE49-F238E27FC236}">
                <a16:creationId xmlns:a16="http://schemas.microsoft.com/office/drawing/2014/main" id="{F25B88D4-A6C0-E1B7-8994-A86076DAC3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BBE91-403E-73E0-6DB4-5910441B780C}"/>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9576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ACB-DC8B-620D-E3BF-7FA852E0A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1B764-533F-1B5D-0611-138F6993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5571B-161E-E09A-5698-4A40CFD3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211E9-C5AE-278A-0394-D5A3F4277B48}"/>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437A9B3E-94F2-61BE-DDC5-42C051384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52E40-E8E1-BD3E-81E3-532D7B29B08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6724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294-46E3-230A-33FB-B650A56B8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59121-E297-856F-8ED2-F9B862BEEC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4B73E-5B9E-91E2-5353-C491A0C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4E462-7BB8-F752-941C-B91D00225E13}"/>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EDC8DAB4-C59B-C493-7D76-5E1C91DA5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DC2E0-CCB3-2997-598A-4720CC284C2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20710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9BFA-EF8F-EA09-32AE-D64B8AE7D9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6459FB-C2B4-23D4-5E49-19DBA37F4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53C33-E5A3-B4F5-E8BF-0885DE881848}"/>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39B3BEFD-E011-F7CA-9B31-F27B73919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99C5A-F8B7-9E90-F8CD-0F9D2201407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72513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63739-7054-0E76-0B25-A01771D40C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8EBE8-732F-CBA6-F8BB-30CF1BAE2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9432A-8B6F-76F0-0D7B-30A66B9629A3}"/>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82C8D616-BCA7-5689-02D1-3CA3EA884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83D8B-7730-9BA0-75AA-DC12AF5D041B}"/>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40412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EEC88-9CA5-4612-35B7-82E0244A7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ADCC53-C329-CE13-38A1-EB94C1E16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CA58-D0E5-D20E-2F11-B1014BAA0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4E54645D-A023-304B-CF92-E94304A16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E39631-FBA3-5F80-C564-B320E69D3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35010-364B-470B-BB6C-DCBBE63D2E54}" type="slidenum">
              <a:rPr lang="en-US" smtClean="0"/>
              <a:t>‹#›</a:t>
            </a:fld>
            <a:endParaRPr lang="en-US"/>
          </a:p>
        </p:txBody>
      </p:sp>
      <p:sp>
        <p:nvSpPr>
          <p:cNvPr id="8" name="TextBox 7">
            <a:extLst>
              <a:ext uri="{FF2B5EF4-FFF2-40B4-BE49-F238E27FC236}">
                <a16:creationId xmlns:a16="http://schemas.microsoft.com/office/drawing/2014/main" id="{3D09B860-F767-CF44-CE1F-64E3F076B1FC}"/>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411653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Calibri" panose="020F0502020204030204" pitchFamily="34" charset="0"/>
                <a:ea typeface="Calibri" panose="020F0502020204030204" pitchFamily="34" charset="0"/>
                <a:cs typeface="Calibri" panose="020F0502020204030204" pitchFamily="34" charset="0"/>
              </a:rPr>
              <a:t>WIPRO NGA Program – 25SUB4530_CP_JAVA</a:t>
            </a:r>
          </a:p>
        </p:txBody>
      </p:sp>
      <p:sp>
        <p:nvSpPr>
          <p:cNvPr id="7" name="TextBox 7"/>
          <p:cNvSpPr txBox="1"/>
          <p:nvPr/>
        </p:nvSpPr>
        <p:spPr>
          <a:xfrm>
            <a:off x="366226" y="2854034"/>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Capstone Project Presentation – 9</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&amp; 10</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2026</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HK Grotesk Light Bold"/>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5" y="4426440"/>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Presented by – Vedhanth S Shetty , Kunal Kumar Amar </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6" y="3640237"/>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Project Title Here – Bank Account Management System</a:t>
            </a:r>
          </a:p>
        </p:txBody>
      </p:sp>
      <p:sp>
        <p:nvSpPr>
          <p:cNvPr id="9" name="TextBox 8">
            <a:extLst>
              <a:ext uri="{FF2B5EF4-FFF2-40B4-BE49-F238E27FC236}">
                <a16:creationId xmlns:a16="http://schemas.microsoft.com/office/drawing/2014/main" id="{0145EF75-2215-DDA7-6D25-F08586011C23}"/>
              </a:ext>
            </a:extLst>
          </p:cNvPr>
          <p:cNvSpPr txBox="1"/>
          <p:nvPr/>
        </p:nvSpPr>
        <p:spPr>
          <a:xfrm>
            <a:off x="297399" y="4930514"/>
            <a:ext cx="6654007" cy="461665"/>
          </a:xfrm>
          <a:prstGeom prst="rect">
            <a:avLst/>
          </a:prstGeom>
          <a:noFill/>
        </p:spPr>
        <p:txBody>
          <a:bodyPr wrap="square" rtlCol="0">
            <a:spAutoFit/>
          </a:bodyPr>
          <a:lstStyle/>
          <a:p>
            <a:r>
              <a:rPr lang="en-IN" sz="2400" dirty="0">
                <a:solidFill>
                  <a:schemeClr val="bg1"/>
                </a:solidFill>
                <a:latin typeface="HK Grotesk"/>
              </a:rPr>
              <a:t>Team – 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AE17-255B-EFAF-AB19-35D5726D493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E3526C0-0D62-E999-846D-539DB0F96A06}"/>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About The Project:</a:t>
            </a:r>
          </a:p>
        </p:txBody>
      </p:sp>
      <p:pic>
        <p:nvPicPr>
          <p:cNvPr id="2" name="Picture 1" descr="Logo&#10;&#10;Description automatically generated">
            <a:extLst>
              <a:ext uri="{FF2B5EF4-FFF2-40B4-BE49-F238E27FC236}">
                <a16:creationId xmlns:a16="http://schemas.microsoft.com/office/drawing/2014/main" id="{CE32E4E7-27A9-CE4B-8AB0-AA5E86AA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sp>
        <p:nvSpPr>
          <p:cNvPr id="3" name="TextBox 5">
            <a:extLst>
              <a:ext uri="{FF2B5EF4-FFF2-40B4-BE49-F238E27FC236}">
                <a16:creationId xmlns:a16="http://schemas.microsoft.com/office/drawing/2014/main" id="{3222EB71-F821-F852-BAE8-F9C461EA6C98}"/>
              </a:ext>
            </a:extLst>
          </p:cNvPr>
          <p:cNvSpPr txBox="1"/>
          <p:nvPr/>
        </p:nvSpPr>
        <p:spPr>
          <a:xfrm>
            <a:off x="4424757" y="6408747"/>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6264C8-542D-6BAC-F31C-291E314EAB7E}"/>
              </a:ext>
            </a:extLst>
          </p:cNvPr>
          <p:cNvSpPr>
            <a:spLocks noGrp="1"/>
          </p:cNvSpPr>
          <p:nvPr>
            <p:ph type="sldNum" sz="quarter" idx="12"/>
          </p:nvPr>
        </p:nvSpPr>
        <p:spPr/>
        <p:txBody>
          <a:bodyPr/>
          <a:lstStyle/>
          <a:p>
            <a:fld id="{C8F35010-364B-470B-BB6C-DCBBE63D2E54}" type="slidenum">
              <a:rPr lang="en-US" smtClean="0">
                <a:solidFill>
                  <a:schemeClr val="tx1"/>
                </a:solidFill>
              </a:rPr>
              <a:t>2</a:t>
            </a:fld>
            <a:endParaRPr lang="en-US" dirty="0">
              <a:solidFill>
                <a:schemeClr val="tx1"/>
              </a:solidFill>
            </a:endParaRPr>
          </a:p>
        </p:txBody>
      </p:sp>
      <p:sp>
        <p:nvSpPr>
          <p:cNvPr id="4" name="TextBox 3">
            <a:extLst>
              <a:ext uri="{FF2B5EF4-FFF2-40B4-BE49-F238E27FC236}">
                <a16:creationId xmlns:a16="http://schemas.microsoft.com/office/drawing/2014/main" id="{DC834CDC-2435-88E7-E908-66FF8BBA8773}"/>
              </a:ext>
            </a:extLst>
          </p:cNvPr>
          <p:cNvSpPr txBox="1"/>
          <p:nvPr/>
        </p:nvSpPr>
        <p:spPr>
          <a:xfrm>
            <a:off x="273074" y="1252924"/>
            <a:ext cx="11574797" cy="452431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dirty="0">
                <a:solidFill>
                  <a:srgbClr val="0187CC"/>
                </a:solidFill>
                <a:latin typeface="HK Grotesk"/>
              </a:rPr>
              <a:t>The Banking Account Management System is a web application designed to manage customer bank accounts and basic banking operations such as account creation and transaction tracking. The system helps banks maintain accurate customer account data and provides quick access to account details and transaction history. </a:t>
            </a:r>
          </a:p>
          <a:p>
            <a:pPr algn="just"/>
            <a:endParaRPr lang="en-US" dirty="0">
              <a:solidFill>
                <a:srgbClr val="0187CC"/>
              </a:solidFill>
              <a:latin typeface="HK Grotesk"/>
            </a:endParaRPr>
          </a:p>
          <a:p>
            <a:pPr algn="just"/>
            <a:r>
              <a:rPr lang="en-US" dirty="0">
                <a:solidFill>
                  <a:srgbClr val="0187CC"/>
                </a:solidFill>
                <a:latin typeface="HK Grotesk"/>
              </a:rPr>
              <a:t>The Angular frontend offers an intuitive interface for managing customer accounts and viewing balances, while the Spring Boot backend processes business logic and ensures data integrity using Spring Data JPA. The application is containerized using Docker and deployed on Azure to ensure scalability, reliability, and ease of maintenance.</a:t>
            </a:r>
            <a:br>
              <a:rPr lang="en-US" dirty="0">
                <a:solidFill>
                  <a:srgbClr val="0187CC"/>
                </a:solidFill>
                <a:latin typeface="HK Grotesk"/>
              </a:rPr>
            </a:br>
            <a:endParaRPr lang="en-US" dirty="0">
              <a:solidFill>
                <a:srgbClr val="0187CC"/>
              </a:solidFill>
              <a:latin typeface="HK Grotesk"/>
            </a:endParaRPr>
          </a:p>
          <a:p>
            <a:pPr algn="just"/>
            <a:r>
              <a:rPr lang="en-US" dirty="0">
                <a:solidFill>
                  <a:srgbClr val="0187CC"/>
                </a:solidFill>
                <a:latin typeface="HK Grotesk"/>
              </a:rPr>
              <a:t>Key Objectives:</a:t>
            </a:r>
          </a:p>
          <a:p>
            <a:pPr algn="just"/>
            <a:r>
              <a:rPr lang="en-US" dirty="0">
                <a:solidFill>
                  <a:srgbClr val="0187CC"/>
                </a:solidFill>
                <a:latin typeface="HK Grotesk"/>
              </a:rPr>
              <a:t>• Manage customer bank accounts in a centralized system</a:t>
            </a:r>
          </a:p>
          <a:p>
            <a:pPr algn="just"/>
            <a:r>
              <a:rPr lang="en-US" dirty="0">
                <a:solidFill>
                  <a:srgbClr val="0187CC"/>
                </a:solidFill>
                <a:latin typeface="HK Grotesk"/>
              </a:rPr>
              <a:t>• Track account balances and transaction history efficiently Core Functionalities</a:t>
            </a:r>
          </a:p>
          <a:p>
            <a:pPr algn="just"/>
            <a:r>
              <a:rPr lang="en-US" dirty="0">
                <a:solidFill>
                  <a:srgbClr val="0187CC"/>
                </a:solidFill>
                <a:latin typeface="HK Grotesk"/>
              </a:rPr>
              <a:t>• Create and manage customer bank accounts</a:t>
            </a:r>
          </a:p>
          <a:p>
            <a:pPr algn="just"/>
            <a:r>
              <a:rPr lang="en-US" dirty="0">
                <a:solidFill>
                  <a:srgbClr val="0187CC"/>
                </a:solidFill>
                <a:latin typeface="HK Grotesk"/>
              </a:rPr>
              <a:t>• View account details and current balance</a:t>
            </a:r>
          </a:p>
          <a:p>
            <a:pPr algn="just"/>
            <a:r>
              <a:rPr lang="en-US" dirty="0">
                <a:solidFill>
                  <a:srgbClr val="0187CC"/>
                </a:solidFill>
                <a:latin typeface="HK Grotesk"/>
              </a:rPr>
              <a:t>• Record fund transfer and received money transactions</a:t>
            </a:r>
          </a:p>
          <a:p>
            <a:pPr algn="just"/>
            <a:r>
              <a:rPr lang="en-US" dirty="0">
                <a:solidFill>
                  <a:srgbClr val="0187CC"/>
                </a:solidFill>
                <a:latin typeface="HK Grotesk"/>
              </a:rPr>
              <a:t>• View transaction history for each account</a:t>
            </a:r>
          </a:p>
          <a:p>
            <a:pPr algn="just"/>
            <a:r>
              <a:rPr lang="en-US" dirty="0">
                <a:solidFill>
                  <a:srgbClr val="0187CC"/>
                </a:solidFill>
                <a:latin typeface="HK Grotesk"/>
              </a:rPr>
              <a:t>• Validate transactions and handle exceptions</a:t>
            </a:r>
          </a:p>
        </p:txBody>
      </p:sp>
    </p:spTree>
    <p:extLst>
      <p:ext uri="{BB962C8B-B14F-4D97-AF65-F5344CB8AC3E}">
        <p14:creationId xmlns:p14="http://schemas.microsoft.com/office/powerpoint/2010/main" val="405102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0E293-DE8F-C028-D672-5DFA3D701D07}"/>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4584DD7A-001B-1B7C-16B7-54674877D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sp>
        <p:nvSpPr>
          <p:cNvPr id="3" name="TextBox 5">
            <a:extLst>
              <a:ext uri="{FF2B5EF4-FFF2-40B4-BE49-F238E27FC236}">
                <a16:creationId xmlns:a16="http://schemas.microsoft.com/office/drawing/2014/main" id="{A1C21E0A-BC62-CFB2-D84B-0C4687E9BC4E}"/>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9" name="Title 8">
            <a:extLst>
              <a:ext uri="{FF2B5EF4-FFF2-40B4-BE49-F238E27FC236}">
                <a16:creationId xmlns:a16="http://schemas.microsoft.com/office/drawing/2014/main" id="{83EE32F0-3923-F107-48DB-12D0E885E26C}"/>
              </a:ext>
            </a:extLst>
          </p:cNvPr>
          <p:cNvSpPr>
            <a:spLocks noGrp="1"/>
          </p:cNvSpPr>
          <p:nvPr>
            <p:ph type="title"/>
          </p:nvPr>
        </p:nvSpPr>
        <p:spPr>
          <a:xfrm>
            <a:off x="416994" y="136525"/>
            <a:ext cx="10515600" cy="795081"/>
          </a:xfrm>
        </p:spPr>
        <p:txBody>
          <a:bodyPr>
            <a:normAutofit/>
          </a:bodyPr>
          <a:lstStyle/>
          <a:p>
            <a:r>
              <a:rPr lang="en-IN" sz="3200" dirty="0">
                <a:solidFill>
                  <a:srgbClr val="0187CC"/>
                </a:solidFill>
                <a:latin typeface="HK Grotesk Bold"/>
              </a:rPr>
              <a:t>Starting With Backend</a:t>
            </a:r>
          </a:p>
        </p:txBody>
      </p:sp>
      <p:sp>
        <p:nvSpPr>
          <p:cNvPr id="10" name="Content Placeholder 9">
            <a:extLst>
              <a:ext uri="{FF2B5EF4-FFF2-40B4-BE49-F238E27FC236}">
                <a16:creationId xmlns:a16="http://schemas.microsoft.com/office/drawing/2014/main" id="{CA007003-7174-3970-DE0B-BD037F9B062C}"/>
              </a:ext>
            </a:extLst>
          </p:cNvPr>
          <p:cNvSpPr>
            <a:spLocks noGrp="1"/>
          </p:cNvSpPr>
          <p:nvPr>
            <p:ph idx="1"/>
          </p:nvPr>
        </p:nvSpPr>
        <p:spPr>
          <a:xfrm>
            <a:off x="627597" y="1096270"/>
            <a:ext cx="10936806" cy="5095415"/>
          </a:xfrm>
        </p:spPr>
        <p:txBody>
          <a:bodyPr>
            <a:normAutofit/>
          </a:bodyPr>
          <a:lstStyle/>
          <a:p>
            <a:r>
              <a:rPr lang="en-IN" sz="1800" dirty="0">
                <a:solidFill>
                  <a:srgbClr val="0187CC"/>
                </a:solidFill>
                <a:latin typeface="HK Grotesk"/>
              </a:rPr>
              <a:t>Created the Spring Boot project using Spring Initializer.</a:t>
            </a:r>
          </a:p>
          <a:p>
            <a:r>
              <a:rPr lang="en-IN" sz="1800" dirty="0">
                <a:solidFill>
                  <a:srgbClr val="0187CC"/>
                </a:solidFill>
                <a:latin typeface="HK Grotesk"/>
              </a:rPr>
              <a:t>Selected the Project as Maven, language as Java – 17, then given the Group name as “</a:t>
            </a:r>
            <a:r>
              <a:rPr lang="en-IN" sz="1800" dirty="0" err="1">
                <a:solidFill>
                  <a:srgbClr val="0187CC"/>
                </a:solidFill>
                <a:latin typeface="HK Grotesk"/>
              </a:rPr>
              <a:t>com.banking</a:t>
            </a:r>
            <a:r>
              <a:rPr lang="en-IN" sz="1800" dirty="0">
                <a:solidFill>
                  <a:srgbClr val="0187CC"/>
                </a:solidFill>
                <a:latin typeface="HK Grotesk"/>
              </a:rPr>
              <a:t>”, Artifact as “</a:t>
            </a:r>
            <a:r>
              <a:rPr lang="en-IN" sz="1800" dirty="0" err="1">
                <a:solidFill>
                  <a:srgbClr val="0187CC"/>
                </a:solidFill>
                <a:latin typeface="HK Grotesk"/>
              </a:rPr>
              <a:t>BankingAccountManagement</a:t>
            </a:r>
            <a:r>
              <a:rPr lang="en-IN" sz="1800" dirty="0">
                <a:solidFill>
                  <a:srgbClr val="0187CC"/>
                </a:solidFill>
                <a:latin typeface="HK Grotesk"/>
              </a:rPr>
              <a:t>”, Name as “Banking Account Management System”, and the Package name as “</a:t>
            </a:r>
            <a:r>
              <a:rPr lang="en-IN" sz="1800" dirty="0" err="1">
                <a:solidFill>
                  <a:srgbClr val="0187CC"/>
                </a:solidFill>
                <a:latin typeface="HK Grotesk"/>
              </a:rPr>
              <a:t>com.banking</a:t>
            </a:r>
            <a:r>
              <a:rPr lang="en-IN" sz="1800" dirty="0">
                <a:solidFill>
                  <a:srgbClr val="0187CC"/>
                </a:solidFill>
                <a:latin typeface="HK Grotesk"/>
              </a:rPr>
              <a:t>”. </a:t>
            </a:r>
          </a:p>
          <a:p>
            <a:r>
              <a:rPr lang="en-IN" sz="1800" dirty="0">
                <a:solidFill>
                  <a:srgbClr val="0187CC"/>
                </a:solidFill>
                <a:latin typeface="HK Grotesk"/>
              </a:rPr>
              <a:t>Selected the following Dependencies: Spring Boot </a:t>
            </a:r>
            <a:r>
              <a:rPr lang="en-IN" sz="1800" dirty="0" err="1">
                <a:solidFill>
                  <a:srgbClr val="0187CC"/>
                </a:solidFill>
                <a:latin typeface="HK Grotesk"/>
              </a:rPr>
              <a:t>DevTools</a:t>
            </a:r>
            <a:r>
              <a:rPr lang="en-IN" sz="1800" dirty="0">
                <a:solidFill>
                  <a:srgbClr val="0187CC"/>
                </a:solidFill>
                <a:latin typeface="HK Grotesk"/>
              </a:rPr>
              <a:t>, Validation, MySQL Driver, Spring Data JPA, Spring Web. After this we just click on generate.</a:t>
            </a:r>
            <a:br>
              <a:rPr lang="en-IN" sz="1800" dirty="0">
                <a:solidFill>
                  <a:srgbClr val="0187CC"/>
                </a:solidFill>
                <a:latin typeface="HK Grotesk"/>
              </a:rPr>
            </a:br>
            <a:br>
              <a:rPr lang="en-IN" sz="1800" dirty="0">
                <a:solidFill>
                  <a:srgbClr val="0187CC"/>
                </a:solidFill>
                <a:latin typeface="HK Grotesk"/>
              </a:rPr>
            </a:br>
            <a:endParaRPr lang="en-IN" sz="1800" dirty="0">
              <a:solidFill>
                <a:srgbClr val="0187CC"/>
              </a:solidFill>
              <a:latin typeface="HK Grotesk"/>
            </a:endParaRPr>
          </a:p>
        </p:txBody>
      </p:sp>
      <p:sp>
        <p:nvSpPr>
          <p:cNvPr id="6" name="Slide Number Placeholder 5">
            <a:extLst>
              <a:ext uri="{FF2B5EF4-FFF2-40B4-BE49-F238E27FC236}">
                <a16:creationId xmlns:a16="http://schemas.microsoft.com/office/drawing/2014/main" id="{91E258D2-5121-C6C4-5F19-A438CA8F0400}"/>
              </a:ext>
            </a:extLst>
          </p:cNvPr>
          <p:cNvSpPr>
            <a:spLocks noGrp="1"/>
          </p:cNvSpPr>
          <p:nvPr>
            <p:ph type="sldNum" sz="quarter" idx="12"/>
          </p:nvPr>
        </p:nvSpPr>
        <p:spPr/>
        <p:txBody>
          <a:bodyPr/>
          <a:lstStyle/>
          <a:p>
            <a:fld id="{C8F35010-364B-470B-BB6C-DCBBE63D2E54}" type="slidenum">
              <a:rPr lang="en-US" smtClean="0">
                <a:solidFill>
                  <a:schemeClr val="tx1"/>
                </a:solidFill>
              </a:rPr>
              <a:t>3</a:t>
            </a:fld>
            <a:endParaRPr lang="en-US" dirty="0">
              <a:solidFill>
                <a:schemeClr val="tx1"/>
              </a:solidFill>
            </a:endParaRPr>
          </a:p>
        </p:txBody>
      </p:sp>
      <p:pic>
        <p:nvPicPr>
          <p:cNvPr id="5" name="Picture 4">
            <a:extLst>
              <a:ext uri="{FF2B5EF4-FFF2-40B4-BE49-F238E27FC236}">
                <a16:creationId xmlns:a16="http://schemas.microsoft.com/office/drawing/2014/main" id="{5F306177-BA3C-B02C-620F-A68603D025DE}"/>
              </a:ext>
            </a:extLst>
          </p:cNvPr>
          <p:cNvPicPr>
            <a:picLocks noChangeAspect="1"/>
          </p:cNvPicPr>
          <p:nvPr/>
        </p:nvPicPr>
        <p:blipFill>
          <a:blip r:embed="rId3"/>
          <a:stretch>
            <a:fillRect/>
          </a:stretch>
        </p:blipFill>
        <p:spPr>
          <a:xfrm>
            <a:off x="4488716" y="3160380"/>
            <a:ext cx="7075687" cy="3164856"/>
          </a:xfrm>
          <a:prstGeom prst="rect">
            <a:avLst/>
          </a:prstGeom>
        </p:spPr>
      </p:pic>
    </p:spTree>
    <p:extLst>
      <p:ext uri="{BB962C8B-B14F-4D97-AF65-F5344CB8AC3E}">
        <p14:creationId xmlns:p14="http://schemas.microsoft.com/office/powerpoint/2010/main" val="3322806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9EA53-161D-8481-4C84-47DACC80C708}"/>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CBF43B7-00D6-78DB-6511-C1F16522B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sp>
        <p:nvSpPr>
          <p:cNvPr id="3" name="TextBox 5">
            <a:extLst>
              <a:ext uri="{FF2B5EF4-FFF2-40B4-BE49-F238E27FC236}">
                <a16:creationId xmlns:a16="http://schemas.microsoft.com/office/drawing/2014/main" id="{DFDBC407-148B-29A6-A215-05CDB2B94DC7}"/>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4" name="Title 3">
            <a:extLst>
              <a:ext uri="{FF2B5EF4-FFF2-40B4-BE49-F238E27FC236}">
                <a16:creationId xmlns:a16="http://schemas.microsoft.com/office/drawing/2014/main" id="{AB9B4950-E013-78A9-D22C-E6241D10C8E0}"/>
              </a:ext>
            </a:extLst>
          </p:cNvPr>
          <p:cNvSpPr>
            <a:spLocks noGrp="1"/>
          </p:cNvSpPr>
          <p:nvPr>
            <p:ph type="title"/>
          </p:nvPr>
        </p:nvSpPr>
        <p:spPr>
          <a:xfrm>
            <a:off x="416994" y="198756"/>
            <a:ext cx="10936806" cy="726256"/>
          </a:xfrm>
        </p:spPr>
        <p:txBody>
          <a:bodyPr>
            <a:normAutofit/>
          </a:bodyPr>
          <a:lstStyle/>
          <a:p>
            <a:r>
              <a:rPr lang="en-IN" sz="3200" dirty="0">
                <a:solidFill>
                  <a:srgbClr val="0187CC"/>
                </a:solidFill>
                <a:latin typeface="HK Grotesk Bold"/>
              </a:rPr>
              <a:t>Creating the Structure And Providing Configurations</a:t>
            </a:r>
          </a:p>
        </p:txBody>
      </p:sp>
      <p:sp>
        <p:nvSpPr>
          <p:cNvPr id="5" name="Content Placeholder 4">
            <a:extLst>
              <a:ext uri="{FF2B5EF4-FFF2-40B4-BE49-F238E27FC236}">
                <a16:creationId xmlns:a16="http://schemas.microsoft.com/office/drawing/2014/main" id="{B4ABC7DB-348F-27C5-E137-5759A4134133}"/>
              </a:ext>
            </a:extLst>
          </p:cNvPr>
          <p:cNvSpPr>
            <a:spLocks noGrp="1"/>
          </p:cNvSpPr>
          <p:nvPr>
            <p:ph idx="1"/>
          </p:nvPr>
        </p:nvSpPr>
        <p:spPr>
          <a:xfrm>
            <a:off x="416994" y="987242"/>
            <a:ext cx="10936806" cy="5189722"/>
          </a:xfrm>
        </p:spPr>
        <p:txBody>
          <a:bodyPr>
            <a:normAutofit/>
          </a:bodyPr>
          <a:lstStyle/>
          <a:p>
            <a:r>
              <a:rPr lang="en-IN" sz="1800" dirty="0">
                <a:solidFill>
                  <a:srgbClr val="0187CC"/>
                </a:solidFill>
                <a:latin typeface="HK Grotesk"/>
              </a:rPr>
              <a:t>After the Successful creation of the spring boot project we open the project in the eclipse and import the project that is generated from the Spring Initializer. </a:t>
            </a:r>
          </a:p>
          <a:p>
            <a:r>
              <a:rPr lang="en-IN" sz="1800" dirty="0">
                <a:solidFill>
                  <a:srgbClr val="0187CC"/>
                </a:solidFill>
                <a:latin typeface="HK Grotesk"/>
              </a:rPr>
              <a:t> Then we provide some certain configuration in the application properties like MySQL Configuration, and JPA Configuration and also provide the server port.</a:t>
            </a:r>
          </a:p>
          <a:p>
            <a:r>
              <a:rPr lang="en-IN" sz="1800" dirty="0">
                <a:solidFill>
                  <a:srgbClr val="0187CC"/>
                </a:solidFill>
                <a:latin typeface="HK Grotesk"/>
              </a:rPr>
              <a:t>Then after giving all this we create the basic fundamental project structure by creating the packages as : config, controller, model, repository, and service</a:t>
            </a:r>
          </a:p>
        </p:txBody>
      </p:sp>
      <p:sp>
        <p:nvSpPr>
          <p:cNvPr id="6" name="Slide Number Placeholder 5">
            <a:extLst>
              <a:ext uri="{FF2B5EF4-FFF2-40B4-BE49-F238E27FC236}">
                <a16:creationId xmlns:a16="http://schemas.microsoft.com/office/drawing/2014/main" id="{BD2005BB-F04C-B247-0DDB-6D40FB7B4D90}"/>
              </a:ext>
            </a:extLst>
          </p:cNvPr>
          <p:cNvSpPr>
            <a:spLocks noGrp="1"/>
          </p:cNvSpPr>
          <p:nvPr>
            <p:ph type="sldNum" sz="quarter" idx="12"/>
          </p:nvPr>
        </p:nvSpPr>
        <p:spPr/>
        <p:txBody>
          <a:bodyPr/>
          <a:lstStyle/>
          <a:p>
            <a:fld id="{C8F35010-364B-470B-BB6C-DCBBE63D2E54}" type="slidenum">
              <a:rPr lang="en-US" smtClean="0">
                <a:solidFill>
                  <a:schemeClr val="tx1"/>
                </a:solidFill>
              </a:rPr>
              <a:t>4</a:t>
            </a:fld>
            <a:endParaRPr lang="en-US" dirty="0">
              <a:solidFill>
                <a:schemeClr val="tx1"/>
              </a:solidFill>
            </a:endParaRPr>
          </a:p>
        </p:txBody>
      </p:sp>
      <p:pic>
        <p:nvPicPr>
          <p:cNvPr id="8" name="Picture 7">
            <a:extLst>
              <a:ext uri="{FF2B5EF4-FFF2-40B4-BE49-F238E27FC236}">
                <a16:creationId xmlns:a16="http://schemas.microsoft.com/office/drawing/2014/main" id="{E4FE9A41-25E7-1168-A767-83FB3165E2C4}"/>
              </a:ext>
            </a:extLst>
          </p:cNvPr>
          <p:cNvPicPr>
            <a:picLocks noChangeAspect="1"/>
          </p:cNvPicPr>
          <p:nvPr/>
        </p:nvPicPr>
        <p:blipFill>
          <a:blip r:embed="rId3"/>
          <a:stretch>
            <a:fillRect/>
          </a:stretch>
        </p:blipFill>
        <p:spPr>
          <a:xfrm>
            <a:off x="739878" y="2849784"/>
            <a:ext cx="5631426" cy="3139975"/>
          </a:xfrm>
          <a:prstGeom prst="rect">
            <a:avLst/>
          </a:prstGeom>
        </p:spPr>
      </p:pic>
      <p:pic>
        <p:nvPicPr>
          <p:cNvPr id="10" name="Picture 9">
            <a:extLst>
              <a:ext uri="{FF2B5EF4-FFF2-40B4-BE49-F238E27FC236}">
                <a16:creationId xmlns:a16="http://schemas.microsoft.com/office/drawing/2014/main" id="{66377E6E-70E5-3B73-475F-15AA4B3913FF}"/>
              </a:ext>
            </a:extLst>
          </p:cNvPr>
          <p:cNvPicPr>
            <a:picLocks noChangeAspect="1"/>
          </p:cNvPicPr>
          <p:nvPr/>
        </p:nvPicPr>
        <p:blipFill>
          <a:blip r:embed="rId4"/>
          <a:stretch>
            <a:fillRect/>
          </a:stretch>
        </p:blipFill>
        <p:spPr>
          <a:xfrm>
            <a:off x="7837177" y="2849784"/>
            <a:ext cx="2742333" cy="3139975"/>
          </a:xfrm>
          <a:prstGeom prst="rect">
            <a:avLst/>
          </a:prstGeom>
        </p:spPr>
      </p:pic>
    </p:spTree>
    <p:extLst>
      <p:ext uri="{BB962C8B-B14F-4D97-AF65-F5344CB8AC3E}">
        <p14:creationId xmlns:p14="http://schemas.microsoft.com/office/powerpoint/2010/main" val="2674373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BE00-3914-C041-B25F-A4FE49F2B882}"/>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BADF87DD-10F4-9129-F968-6323E15D18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sp>
        <p:nvSpPr>
          <p:cNvPr id="3" name="TextBox 5">
            <a:extLst>
              <a:ext uri="{FF2B5EF4-FFF2-40B4-BE49-F238E27FC236}">
                <a16:creationId xmlns:a16="http://schemas.microsoft.com/office/drawing/2014/main" id="{CE9FF26D-40D8-40CC-8DE7-9120490523F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4" name="Title 3">
            <a:extLst>
              <a:ext uri="{FF2B5EF4-FFF2-40B4-BE49-F238E27FC236}">
                <a16:creationId xmlns:a16="http://schemas.microsoft.com/office/drawing/2014/main" id="{0D23231B-115E-09E8-4451-1E55480EA521}"/>
              </a:ext>
            </a:extLst>
          </p:cNvPr>
          <p:cNvSpPr>
            <a:spLocks noGrp="1"/>
          </p:cNvSpPr>
          <p:nvPr>
            <p:ph type="title"/>
          </p:nvPr>
        </p:nvSpPr>
        <p:spPr>
          <a:xfrm>
            <a:off x="416994" y="198756"/>
            <a:ext cx="10936806" cy="726256"/>
          </a:xfrm>
        </p:spPr>
        <p:txBody>
          <a:bodyPr>
            <a:normAutofit/>
          </a:bodyPr>
          <a:lstStyle/>
          <a:p>
            <a:r>
              <a:rPr lang="en-IN" sz="3200" dirty="0">
                <a:solidFill>
                  <a:srgbClr val="0187CC"/>
                </a:solidFill>
                <a:latin typeface="HK Grotesk Bold"/>
              </a:rPr>
              <a:t>Writing the Code</a:t>
            </a:r>
          </a:p>
        </p:txBody>
      </p:sp>
      <p:sp>
        <p:nvSpPr>
          <p:cNvPr id="5" name="Content Placeholder 4">
            <a:extLst>
              <a:ext uri="{FF2B5EF4-FFF2-40B4-BE49-F238E27FC236}">
                <a16:creationId xmlns:a16="http://schemas.microsoft.com/office/drawing/2014/main" id="{4B7122BA-7376-6520-C1D1-ED111ACF086F}"/>
              </a:ext>
            </a:extLst>
          </p:cNvPr>
          <p:cNvSpPr>
            <a:spLocks noGrp="1"/>
          </p:cNvSpPr>
          <p:nvPr>
            <p:ph idx="1"/>
          </p:nvPr>
        </p:nvSpPr>
        <p:spPr>
          <a:xfrm>
            <a:off x="416994" y="987241"/>
            <a:ext cx="10936806" cy="4957763"/>
          </a:xfrm>
        </p:spPr>
        <p:txBody>
          <a:bodyPr>
            <a:normAutofit/>
          </a:bodyPr>
          <a:lstStyle/>
          <a:p>
            <a:r>
              <a:rPr lang="en-IN" sz="1800" dirty="0">
                <a:solidFill>
                  <a:srgbClr val="0187CC"/>
                </a:solidFill>
                <a:latin typeface="HK Grotesk"/>
              </a:rPr>
              <a:t>Then we create the classes for each package by giving the proper names for the class according to are project requirement.</a:t>
            </a:r>
          </a:p>
          <a:p>
            <a:r>
              <a:rPr lang="en-IN" sz="1800" dirty="0">
                <a:solidFill>
                  <a:srgbClr val="0187CC"/>
                </a:solidFill>
                <a:latin typeface="HK Grotesk"/>
              </a:rPr>
              <a:t>Next we write the required code for model, repository, service and controller.</a:t>
            </a:r>
          </a:p>
          <a:p>
            <a:pPr marL="0" indent="0">
              <a:buNone/>
            </a:pPr>
            <a:endParaRPr lang="en-IN" sz="1800" dirty="0">
              <a:solidFill>
                <a:srgbClr val="0187CC"/>
              </a:solidFill>
              <a:latin typeface="HK Grotesk"/>
            </a:endParaRPr>
          </a:p>
        </p:txBody>
      </p:sp>
      <p:sp>
        <p:nvSpPr>
          <p:cNvPr id="6" name="Slide Number Placeholder 5">
            <a:extLst>
              <a:ext uri="{FF2B5EF4-FFF2-40B4-BE49-F238E27FC236}">
                <a16:creationId xmlns:a16="http://schemas.microsoft.com/office/drawing/2014/main" id="{7808BC28-AE8E-BC5A-B982-14A13202A374}"/>
              </a:ext>
            </a:extLst>
          </p:cNvPr>
          <p:cNvSpPr>
            <a:spLocks noGrp="1"/>
          </p:cNvSpPr>
          <p:nvPr>
            <p:ph type="sldNum" sz="quarter" idx="12"/>
          </p:nvPr>
        </p:nvSpPr>
        <p:spPr/>
        <p:txBody>
          <a:bodyPr/>
          <a:lstStyle/>
          <a:p>
            <a:fld id="{C8F35010-364B-470B-BB6C-DCBBE63D2E54}" type="slidenum">
              <a:rPr lang="en-US" smtClean="0">
                <a:solidFill>
                  <a:schemeClr val="tx1"/>
                </a:solidFill>
              </a:rPr>
              <a:t>5</a:t>
            </a:fld>
            <a:endParaRPr lang="en-US" dirty="0">
              <a:solidFill>
                <a:schemeClr val="tx1"/>
              </a:solidFill>
            </a:endParaRPr>
          </a:p>
        </p:txBody>
      </p:sp>
      <p:pic>
        <p:nvPicPr>
          <p:cNvPr id="8" name="Picture 7">
            <a:extLst>
              <a:ext uri="{FF2B5EF4-FFF2-40B4-BE49-F238E27FC236}">
                <a16:creationId xmlns:a16="http://schemas.microsoft.com/office/drawing/2014/main" id="{F6A80DC3-50AE-677F-A968-2D4E5FA32386}"/>
              </a:ext>
            </a:extLst>
          </p:cNvPr>
          <p:cNvPicPr>
            <a:picLocks noChangeAspect="1"/>
          </p:cNvPicPr>
          <p:nvPr/>
        </p:nvPicPr>
        <p:blipFill>
          <a:blip r:embed="rId3"/>
          <a:stretch>
            <a:fillRect/>
          </a:stretch>
        </p:blipFill>
        <p:spPr>
          <a:xfrm>
            <a:off x="3992138" y="2128564"/>
            <a:ext cx="2103862" cy="3878669"/>
          </a:xfrm>
          <a:prstGeom prst="rect">
            <a:avLst/>
          </a:prstGeom>
        </p:spPr>
      </p:pic>
    </p:spTree>
    <p:extLst>
      <p:ext uri="{BB962C8B-B14F-4D97-AF65-F5344CB8AC3E}">
        <p14:creationId xmlns:p14="http://schemas.microsoft.com/office/powerpoint/2010/main" val="80234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67DB7-7343-E8FD-C7AB-50B9A495F81B}"/>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C9BC3438-206E-293B-8C6F-0B08537C0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sp>
        <p:nvSpPr>
          <p:cNvPr id="3" name="TextBox 5">
            <a:extLst>
              <a:ext uri="{FF2B5EF4-FFF2-40B4-BE49-F238E27FC236}">
                <a16:creationId xmlns:a16="http://schemas.microsoft.com/office/drawing/2014/main" id="{1E0210EB-6442-E2D5-5324-738D36B18ACD}"/>
              </a:ext>
            </a:extLst>
          </p:cNvPr>
          <p:cNvSpPr txBox="1"/>
          <p:nvPr/>
        </p:nvSpPr>
        <p:spPr>
          <a:xfrm>
            <a:off x="448504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4" name="Title 3">
            <a:extLst>
              <a:ext uri="{FF2B5EF4-FFF2-40B4-BE49-F238E27FC236}">
                <a16:creationId xmlns:a16="http://schemas.microsoft.com/office/drawing/2014/main" id="{02817003-8215-65C9-2171-E3E8FBC49456}"/>
              </a:ext>
            </a:extLst>
          </p:cNvPr>
          <p:cNvSpPr>
            <a:spLocks noGrp="1"/>
          </p:cNvSpPr>
          <p:nvPr>
            <p:ph type="title"/>
          </p:nvPr>
        </p:nvSpPr>
        <p:spPr>
          <a:xfrm>
            <a:off x="416994" y="198756"/>
            <a:ext cx="10936806" cy="726256"/>
          </a:xfrm>
        </p:spPr>
        <p:txBody>
          <a:bodyPr>
            <a:normAutofit/>
          </a:bodyPr>
          <a:lstStyle/>
          <a:p>
            <a:r>
              <a:rPr lang="en-IN" sz="3200" dirty="0">
                <a:solidFill>
                  <a:srgbClr val="0187CC"/>
                </a:solidFill>
                <a:latin typeface="HK Grotesk Bold"/>
              </a:rPr>
              <a:t>Testing Using Postman</a:t>
            </a:r>
          </a:p>
        </p:txBody>
      </p:sp>
      <p:sp>
        <p:nvSpPr>
          <p:cNvPr id="5" name="Content Placeholder 4">
            <a:extLst>
              <a:ext uri="{FF2B5EF4-FFF2-40B4-BE49-F238E27FC236}">
                <a16:creationId xmlns:a16="http://schemas.microsoft.com/office/drawing/2014/main" id="{37359B73-A17B-7621-326F-8CCFBC16A23D}"/>
              </a:ext>
            </a:extLst>
          </p:cNvPr>
          <p:cNvSpPr>
            <a:spLocks noGrp="1"/>
          </p:cNvSpPr>
          <p:nvPr>
            <p:ph idx="1"/>
          </p:nvPr>
        </p:nvSpPr>
        <p:spPr>
          <a:xfrm>
            <a:off x="416994" y="1219200"/>
            <a:ext cx="10936806" cy="4957763"/>
          </a:xfrm>
        </p:spPr>
        <p:txBody>
          <a:bodyPr>
            <a:normAutofit/>
          </a:bodyPr>
          <a:lstStyle/>
          <a:p>
            <a:r>
              <a:rPr lang="en-IN" sz="1800" dirty="0">
                <a:solidFill>
                  <a:srgbClr val="0187CC"/>
                </a:solidFill>
                <a:latin typeface="HK Grotesk"/>
              </a:rPr>
              <a:t>After the successful completion of the code we first update the project, then do maven build and in that provide the goals as the clean install.</a:t>
            </a:r>
          </a:p>
          <a:p>
            <a:r>
              <a:rPr lang="en-IN" sz="1800" dirty="0">
                <a:solidFill>
                  <a:srgbClr val="0187CC"/>
                </a:solidFill>
                <a:latin typeface="HK Grotesk"/>
              </a:rPr>
              <a:t>This build will help in updating the project properly by reinstalling all the dependencies. After this we just run the project as java application so due to the spring boot project the project runs on the Apache Tomcat server on the mentioned port number in the configuration file.</a:t>
            </a:r>
          </a:p>
          <a:p>
            <a:r>
              <a:rPr lang="en-IN" sz="1800" dirty="0">
                <a:solidFill>
                  <a:srgbClr val="0187CC"/>
                </a:solidFill>
                <a:latin typeface="HK Grotesk"/>
              </a:rPr>
              <a:t>After the successful run we test it on the postman so that we come to know if any errors are there in the backend or not.</a:t>
            </a:r>
          </a:p>
        </p:txBody>
      </p:sp>
      <p:sp>
        <p:nvSpPr>
          <p:cNvPr id="6" name="Slide Number Placeholder 5">
            <a:extLst>
              <a:ext uri="{FF2B5EF4-FFF2-40B4-BE49-F238E27FC236}">
                <a16:creationId xmlns:a16="http://schemas.microsoft.com/office/drawing/2014/main" id="{7F69E7E8-79E4-F6FD-ECF0-DD92D15D3BD5}"/>
              </a:ext>
            </a:extLst>
          </p:cNvPr>
          <p:cNvSpPr>
            <a:spLocks noGrp="1"/>
          </p:cNvSpPr>
          <p:nvPr>
            <p:ph type="sldNum" sz="quarter" idx="12"/>
          </p:nvPr>
        </p:nvSpPr>
        <p:spPr/>
        <p:txBody>
          <a:bodyPr/>
          <a:lstStyle/>
          <a:p>
            <a:fld id="{C8F35010-364B-470B-BB6C-DCBBE63D2E54}" type="slidenum">
              <a:rPr lang="en-US" smtClean="0">
                <a:solidFill>
                  <a:schemeClr val="tx1"/>
                </a:solidFill>
              </a:rPr>
              <a:t>6</a:t>
            </a:fld>
            <a:endParaRPr lang="en-US" dirty="0">
              <a:solidFill>
                <a:schemeClr val="tx1"/>
              </a:solidFill>
            </a:endParaRPr>
          </a:p>
        </p:txBody>
      </p:sp>
      <p:pic>
        <p:nvPicPr>
          <p:cNvPr id="8" name="Picture 7">
            <a:extLst>
              <a:ext uri="{FF2B5EF4-FFF2-40B4-BE49-F238E27FC236}">
                <a16:creationId xmlns:a16="http://schemas.microsoft.com/office/drawing/2014/main" id="{DE90272F-85DB-01B1-F358-4B52E4173C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28" y="3429000"/>
            <a:ext cx="5630139" cy="2635609"/>
          </a:xfrm>
          <a:prstGeom prst="rect">
            <a:avLst/>
          </a:prstGeom>
        </p:spPr>
      </p:pic>
      <p:pic>
        <p:nvPicPr>
          <p:cNvPr id="10" name="Picture 9">
            <a:extLst>
              <a:ext uri="{FF2B5EF4-FFF2-40B4-BE49-F238E27FC236}">
                <a16:creationId xmlns:a16="http://schemas.microsoft.com/office/drawing/2014/main" id="{BB3E48BA-53E2-CE24-C2B4-B950BE0CF8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0129" y="3424541"/>
            <a:ext cx="5543447" cy="2640067"/>
          </a:xfrm>
          <a:prstGeom prst="rect">
            <a:avLst/>
          </a:prstGeom>
        </p:spPr>
      </p:pic>
    </p:spTree>
    <p:extLst>
      <p:ext uri="{BB962C8B-B14F-4D97-AF65-F5344CB8AC3E}">
        <p14:creationId xmlns:p14="http://schemas.microsoft.com/office/powerpoint/2010/main" val="2263665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AAE94-79F7-4DE9-108E-4F3497F13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BDC8B-4EEF-F1A0-38FF-9A9AE6C0D775}"/>
              </a:ext>
            </a:extLst>
          </p:cNvPr>
          <p:cNvSpPr>
            <a:spLocks noGrp="1"/>
          </p:cNvSpPr>
          <p:nvPr>
            <p:ph type="title"/>
          </p:nvPr>
        </p:nvSpPr>
        <p:spPr>
          <a:xfrm>
            <a:off x="304800" y="180257"/>
            <a:ext cx="11366090" cy="586659"/>
          </a:xfrm>
        </p:spPr>
        <p:txBody>
          <a:bodyPr>
            <a:normAutofit/>
          </a:bodyPr>
          <a:lstStyle/>
          <a:p>
            <a:r>
              <a:rPr lang="en-IN" sz="3200" dirty="0">
                <a:solidFill>
                  <a:srgbClr val="0187CC"/>
                </a:solidFill>
                <a:latin typeface="HK Grotesk Bold"/>
              </a:rPr>
              <a:t>Frontend Design - Admin</a:t>
            </a:r>
          </a:p>
        </p:txBody>
      </p:sp>
      <p:sp>
        <p:nvSpPr>
          <p:cNvPr id="3" name="Content Placeholder 2">
            <a:extLst>
              <a:ext uri="{FF2B5EF4-FFF2-40B4-BE49-F238E27FC236}">
                <a16:creationId xmlns:a16="http://schemas.microsoft.com/office/drawing/2014/main" id="{B147889D-EFBB-44F5-BF8D-040661ACF02C}"/>
              </a:ext>
            </a:extLst>
          </p:cNvPr>
          <p:cNvSpPr>
            <a:spLocks noGrp="1"/>
          </p:cNvSpPr>
          <p:nvPr>
            <p:ph idx="1"/>
          </p:nvPr>
        </p:nvSpPr>
        <p:spPr>
          <a:xfrm>
            <a:off x="304799" y="953729"/>
            <a:ext cx="11366089" cy="5223234"/>
          </a:xfrm>
        </p:spPr>
        <p:txBody>
          <a:bodyPr>
            <a:normAutofit/>
          </a:bodyPr>
          <a:lstStyle/>
          <a:p>
            <a:r>
              <a:rPr lang="en-IN" sz="1800" dirty="0">
                <a:solidFill>
                  <a:srgbClr val="0187CC"/>
                </a:solidFill>
              </a:rPr>
              <a:t>So below is the Admin Page Design In this the admin can see All the customers, Add a customer, Create a Bank account, View all the Accounts, View all the transactions</a:t>
            </a:r>
          </a:p>
          <a:p>
            <a:r>
              <a:rPr lang="en-IN" sz="1800" dirty="0">
                <a:solidFill>
                  <a:srgbClr val="0187CC"/>
                </a:solidFill>
              </a:rPr>
              <a:t>And also in the Navbar the details of the admin is displayed along with a logout button</a:t>
            </a:r>
          </a:p>
        </p:txBody>
      </p:sp>
      <p:pic>
        <p:nvPicPr>
          <p:cNvPr id="5" name="Picture 4">
            <a:extLst>
              <a:ext uri="{FF2B5EF4-FFF2-40B4-BE49-F238E27FC236}">
                <a16:creationId xmlns:a16="http://schemas.microsoft.com/office/drawing/2014/main" id="{5F42CE61-D7F8-990A-5B34-4F2C4EA16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8316" y="2159881"/>
            <a:ext cx="8585723" cy="4131879"/>
          </a:xfrm>
          <a:prstGeom prst="rect">
            <a:avLst/>
          </a:prstGeom>
        </p:spPr>
      </p:pic>
      <p:pic>
        <p:nvPicPr>
          <p:cNvPr id="6" name="Picture 5" descr="Logo&#10;&#10;Description automatically generated">
            <a:extLst>
              <a:ext uri="{FF2B5EF4-FFF2-40B4-BE49-F238E27FC236}">
                <a16:creationId xmlns:a16="http://schemas.microsoft.com/office/drawing/2014/main" id="{8BBEC55D-A9DE-B3D1-70EC-C2D2F69AD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8" name="Picture 7">
            <a:extLst>
              <a:ext uri="{FF2B5EF4-FFF2-40B4-BE49-F238E27FC236}">
                <a16:creationId xmlns:a16="http://schemas.microsoft.com/office/drawing/2014/main" id="{0D3525BD-4879-07EE-26A8-4CB0220C93F5}"/>
              </a:ext>
            </a:extLst>
          </p:cNvPr>
          <p:cNvPicPr>
            <a:picLocks noChangeAspect="1"/>
          </p:cNvPicPr>
          <p:nvPr/>
        </p:nvPicPr>
        <p:blipFill>
          <a:blip r:embed="rId4"/>
          <a:stretch>
            <a:fillRect/>
          </a:stretch>
        </p:blipFill>
        <p:spPr>
          <a:xfrm>
            <a:off x="4066124" y="6435056"/>
            <a:ext cx="6370872" cy="377985"/>
          </a:xfrm>
          <a:prstGeom prst="rect">
            <a:avLst/>
          </a:prstGeom>
        </p:spPr>
      </p:pic>
      <p:sp>
        <p:nvSpPr>
          <p:cNvPr id="9" name="Slide Number Placeholder 5">
            <a:extLst>
              <a:ext uri="{FF2B5EF4-FFF2-40B4-BE49-F238E27FC236}">
                <a16:creationId xmlns:a16="http://schemas.microsoft.com/office/drawing/2014/main" id="{628231AD-A8FF-E232-3C9D-CA534442192F}"/>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7</a:t>
            </a:fld>
            <a:endParaRPr lang="en-US" dirty="0">
              <a:solidFill>
                <a:schemeClr val="tx1"/>
              </a:solidFill>
            </a:endParaRPr>
          </a:p>
        </p:txBody>
      </p:sp>
    </p:spTree>
    <p:extLst>
      <p:ext uri="{BB962C8B-B14F-4D97-AF65-F5344CB8AC3E}">
        <p14:creationId xmlns:p14="http://schemas.microsoft.com/office/powerpoint/2010/main" val="169514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487D-692D-D266-FC70-1B846C1D16AB}"/>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Admin</a:t>
            </a:r>
          </a:p>
        </p:txBody>
      </p:sp>
      <p:sp>
        <p:nvSpPr>
          <p:cNvPr id="3" name="Content Placeholder 2">
            <a:extLst>
              <a:ext uri="{FF2B5EF4-FFF2-40B4-BE49-F238E27FC236}">
                <a16:creationId xmlns:a16="http://schemas.microsoft.com/office/drawing/2014/main" id="{37B8221E-1F6C-4113-B3C5-CA898D48EE78}"/>
              </a:ext>
            </a:extLst>
          </p:cNvPr>
          <p:cNvSpPr>
            <a:spLocks noGrp="1"/>
          </p:cNvSpPr>
          <p:nvPr>
            <p:ph idx="1"/>
          </p:nvPr>
        </p:nvSpPr>
        <p:spPr>
          <a:xfrm>
            <a:off x="304799" y="1160206"/>
            <a:ext cx="11366089" cy="5016757"/>
          </a:xfrm>
        </p:spPr>
        <p:txBody>
          <a:bodyPr>
            <a:normAutofit/>
          </a:bodyPr>
          <a:lstStyle/>
          <a:p>
            <a:r>
              <a:rPr lang="en-IN" sz="1800" dirty="0">
                <a:solidFill>
                  <a:srgbClr val="0187CC"/>
                </a:solidFill>
              </a:rPr>
              <a:t>So When we click on the Open button in the customers it displays all the customer in the that are already present. Displaying the details such as Used ID, </a:t>
            </a:r>
            <a:r>
              <a:rPr lang="en-IN" sz="1800" dirty="0" err="1">
                <a:solidFill>
                  <a:srgbClr val="0187CC"/>
                </a:solidFill>
              </a:rPr>
              <a:t>Fullname</a:t>
            </a:r>
            <a:r>
              <a:rPr lang="en-IN" sz="1800" dirty="0">
                <a:solidFill>
                  <a:srgbClr val="0187CC"/>
                </a:solidFill>
              </a:rPr>
              <a:t>, Username, Email, Status.</a:t>
            </a:r>
          </a:p>
        </p:txBody>
      </p:sp>
      <p:pic>
        <p:nvPicPr>
          <p:cNvPr id="5" name="Picture 4">
            <a:extLst>
              <a:ext uri="{FF2B5EF4-FFF2-40B4-BE49-F238E27FC236}">
                <a16:creationId xmlns:a16="http://schemas.microsoft.com/office/drawing/2014/main" id="{403E1540-0211-A015-70B1-589FFF200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555" y="1886393"/>
            <a:ext cx="8835151" cy="4290570"/>
          </a:xfrm>
          <a:prstGeom prst="rect">
            <a:avLst/>
          </a:prstGeom>
        </p:spPr>
      </p:pic>
      <p:pic>
        <p:nvPicPr>
          <p:cNvPr id="6" name="Picture 5">
            <a:extLst>
              <a:ext uri="{FF2B5EF4-FFF2-40B4-BE49-F238E27FC236}">
                <a16:creationId xmlns:a16="http://schemas.microsoft.com/office/drawing/2014/main" id="{C37E27AD-0AA3-DA6C-01BA-FA0F638C1D18}"/>
              </a:ext>
            </a:extLst>
          </p:cNvPr>
          <p:cNvPicPr>
            <a:picLocks noChangeAspect="1"/>
          </p:cNvPicPr>
          <p:nvPr/>
        </p:nvPicPr>
        <p:blipFill>
          <a:blip r:embed="rId3"/>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86B08DF1-28DE-1E74-7965-CB884DD23229}"/>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8</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DC76B6BB-818C-429C-CD37-91BB4EBC8B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spTree>
    <p:extLst>
      <p:ext uri="{BB962C8B-B14F-4D97-AF65-F5344CB8AC3E}">
        <p14:creationId xmlns:p14="http://schemas.microsoft.com/office/powerpoint/2010/main" val="2607881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E8DA0-7084-9E3F-C10D-04BAEC058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172DB-C137-B687-D95C-432DBF6C4472}"/>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Admin</a:t>
            </a:r>
          </a:p>
        </p:txBody>
      </p:sp>
      <p:sp>
        <p:nvSpPr>
          <p:cNvPr id="3" name="Content Placeholder 2">
            <a:extLst>
              <a:ext uri="{FF2B5EF4-FFF2-40B4-BE49-F238E27FC236}">
                <a16:creationId xmlns:a16="http://schemas.microsoft.com/office/drawing/2014/main" id="{B973ABD1-DC65-6BBF-50AF-2F564A00381B}"/>
              </a:ext>
            </a:extLst>
          </p:cNvPr>
          <p:cNvSpPr>
            <a:spLocks noGrp="1"/>
          </p:cNvSpPr>
          <p:nvPr>
            <p:ph idx="1"/>
          </p:nvPr>
        </p:nvSpPr>
        <p:spPr>
          <a:xfrm>
            <a:off x="304799" y="943898"/>
            <a:ext cx="11366089" cy="5233066"/>
          </a:xfrm>
        </p:spPr>
        <p:txBody>
          <a:bodyPr>
            <a:normAutofit/>
          </a:bodyPr>
          <a:lstStyle/>
          <a:p>
            <a:r>
              <a:rPr lang="en-IN" sz="1800" dirty="0">
                <a:solidFill>
                  <a:srgbClr val="0187CC"/>
                </a:solidFill>
              </a:rPr>
              <a:t>Now to Add a customer through the admin the we click on the open button in the add customer section. So it asks some details to enter such as : </a:t>
            </a:r>
            <a:r>
              <a:rPr lang="en-IN" sz="1800" dirty="0" err="1">
                <a:solidFill>
                  <a:srgbClr val="0187CC"/>
                </a:solidFill>
              </a:rPr>
              <a:t>firstname</a:t>
            </a:r>
            <a:r>
              <a:rPr lang="en-IN" sz="1800" dirty="0">
                <a:solidFill>
                  <a:srgbClr val="0187CC"/>
                </a:solidFill>
              </a:rPr>
              <a:t>, </a:t>
            </a:r>
            <a:r>
              <a:rPr lang="en-IN" sz="1800" dirty="0" err="1">
                <a:solidFill>
                  <a:srgbClr val="0187CC"/>
                </a:solidFill>
              </a:rPr>
              <a:t>lastname</a:t>
            </a:r>
            <a:r>
              <a:rPr lang="en-IN" sz="1800" dirty="0">
                <a:solidFill>
                  <a:srgbClr val="0187CC"/>
                </a:solidFill>
              </a:rPr>
              <a:t>, username, password … etc. and by clicking on the create customer button it creates a new customer. </a:t>
            </a:r>
          </a:p>
        </p:txBody>
      </p:sp>
      <p:pic>
        <p:nvPicPr>
          <p:cNvPr id="6" name="Picture 5">
            <a:extLst>
              <a:ext uri="{FF2B5EF4-FFF2-40B4-BE49-F238E27FC236}">
                <a16:creationId xmlns:a16="http://schemas.microsoft.com/office/drawing/2014/main" id="{A89116FA-9463-E98C-BF29-887FC11AFF37}"/>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8AF8D00E-E2B3-3AC9-FFC8-E52CCB988349}"/>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9</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07946219-11F4-3957-A261-B42D5B20D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9" name="Picture 8">
            <a:extLst>
              <a:ext uri="{FF2B5EF4-FFF2-40B4-BE49-F238E27FC236}">
                <a16:creationId xmlns:a16="http://schemas.microsoft.com/office/drawing/2014/main" id="{12F53A44-E753-A319-2A25-1EC9E33FF9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1110" y="1789315"/>
            <a:ext cx="4287124" cy="4645741"/>
          </a:xfrm>
          <a:prstGeom prst="rect">
            <a:avLst/>
          </a:prstGeom>
        </p:spPr>
      </p:pic>
    </p:spTree>
    <p:extLst>
      <p:ext uri="{BB962C8B-B14F-4D97-AF65-F5344CB8AC3E}">
        <p14:creationId xmlns:p14="http://schemas.microsoft.com/office/powerpoint/2010/main" val="1106314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D12F7-3952-15D8-A6FB-4E01F3B50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D4B12-B0EE-2874-21C7-8DB736BE87A4}"/>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Admin</a:t>
            </a:r>
          </a:p>
        </p:txBody>
      </p:sp>
      <p:sp>
        <p:nvSpPr>
          <p:cNvPr id="3" name="Content Placeholder 2">
            <a:extLst>
              <a:ext uri="{FF2B5EF4-FFF2-40B4-BE49-F238E27FC236}">
                <a16:creationId xmlns:a16="http://schemas.microsoft.com/office/drawing/2014/main" id="{C7DC7DB3-0791-83EE-0F19-271C60AF543A}"/>
              </a:ext>
            </a:extLst>
          </p:cNvPr>
          <p:cNvSpPr>
            <a:spLocks noGrp="1"/>
          </p:cNvSpPr>
          <p:nvPr>
            <p:ph idx="1"/>
          </p:nvPr>
        </p:nvSpPr>
        <p:spPr>
          <a:xfrm>
            <a:off x="304799" y="1160206"/>
            <a:ext cx="11366089" cy="5016757"/>
          </a:xfrm>
        </p:spPr>
        <p:txBody>
          <a:bodyPr>
            <a:normAutofit/>
          </a:bodyPr>
          <a:lstStyle/>
          <a:p>
            <a:r>
              <a:rPr lang="en-IN" sz="1800" dirty="0">
                <a:solidFill>
                  <a:srgbClr val="0187CC"/>
                </a:solidFill>
              </a:rPr>
              <a:t>Now to create a bank account we click on the open button in the Create bank Account section which opens a widget that asks the details like User ID , Account Type, Initial Balance, etc. So after entering the details of this and click on the create account button which creates a new bank account</a:t>
            </a:r>
          </a:p>
        </p:txBody>
      </p:sp>
      <p:pic>
        <p:nvPicPr>
          <p:cNvPr id="6" name="Picture 5">
            <a:extLst>
              <a:ext uri="{FF2B5EF4-FFF2-40B4-BE49-F238E27FC236}">
                <a16:creationId xmlns:a16="http://schemas.microsoft.com/office/drawing/2014/main" id="{52C3B1ED-5BE9-9136-4F36-06AEE1506F91}"/>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D92ED293-008A-06D5-D4DE-1D5D6E234255}"/>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10</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8C0460AC-1D93-149A-E0CE-EA64827BF4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5" name="Picture 4">
            <a:extLst>
              <a:ext uri="{FF2B5EF4-FFF2-40B4-BE49-F238E27FC236}">
                <a16:creationId xmlns:a16="http://schemas.microsoft.com/office/drawing/2014/main" id="{D52EC8CB-AD70-B35C-F6D0-04450361CE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3112" y="1960436"/>
            <a:ext cx="3743063" cy="4467741"/>
          </a:xfrm>
          <a:prstGeom prst="rect">
            <a:avLst/>
          </a:prstGeom>
        </p:spPr>
      </p:pic>
    </p:spTree>
    <p:extLst>
      <p:ext uri="{BB962C8B-B14F-4D97-AF65-F5344CB8AC3E}">
        <p14:creationId xmlns:p14="http://schemas.microsoft.com/office/powerpoint/2010/main" val="2229314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A8CB-BDD6-0191-F96D-6529DC3A2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6BE30-8BCC-113F-CEA7-6D89B50DB502}"/>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Admin</a:t>
            </a:r>
          </a:p>
        </p:txBody>
      </p:sp>
      <p:sp>
        <p:nvSpPr>
          <p:cNvPr id="3" name="Content Placeholder 2">
            <a:extLst>
              <a:ext uri="{FF2B5EF4-FFF2-40B4-BE49-F238E27FC236}">
                <a16:creationId xmlns:a16="http://schemas.microsoft.com/office/drawing/2014/main" id="{E658D305-CEAB-EA7D-650A-C50ACE936C61}"/>
              </a:ext>
            </a:extLst>
          </p:cNvPr>
          <p:cNvSpPr>
            <a:spLocks noGrp="1"/>
          </p:cNvSpPr>
          <p:nvPr>
            <p:ph idx="1"/>
          </p:nvPr>
        </p:nvSpPr>
        <p:spPr>
          <a:xfrm>
            <a:off x="304799" y="1160206"/>
            <a:ext cx="11366089" cy="5016757"/>
          </a:xfrm>
        </p:spPr>
        <p:txBody>
          <a:bodyPr>
            <a:normAutofit/>
          </a:bodyPr>
          <a:lstStyle/>
          <a:p>
            <a:r>
              <a:rPr lang="en-IN" sz="1800" dirty="0">
                <a:solidFill>
                  <a:srgbClr val="0187CC"/>
                </a:solidFill>
              </a:rPr>
              <a:t>Now to check all the Accounts present in the database we simply click on the open button in the all accounts section which displays all the account details present such as the user id, account number, account type, balance.</a:t>
            </a:r>
          </a:p>
        </p:txBody>
      </p:sp>
      <p:pic>
        <p:nvPicPr>
          <p:cNvPr id="6" name="Picture 5">
            <a:extLst>
              <a:ext uri="{FF2B5EF4-FFF2-40B4-BE49-F238E27FC236}">
                <a16:creationId xmlns:a16="http://schemas.microsoft.com/office/drawing/2014/main" id="{5FE47105-16DF-2C69-BDBF-01F279C32398}"/>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43013312-AE9D-8307-4A2A-DFA4CBF5F05B}"/>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11</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A8EC8511-F571-7177-0AA1-FBB2F5E1C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9" name="Picture 8">
            <a:extLst>
              <a:ext uri="{FF2B5EF4-FFF2-40B4-BE49-F238E27FC236}">
                <a16:creationId xmlns:a16="http://schemas.microsoft.com/office/drawing/2014/main" id="{D325AA86-BE69-76F7-7586-79850B3D4C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5365" y="1974561"/>
            <a:ext cx="9177495" cy="4433877"/>
          </a:xfrm>
          <a:prstGeom prst="rect">
            <a:avLst/>
          </a:prstGeom>
        </p:spPr>
      </p:pic>
    </p:spTree>
    <p:extLst>
      <p:ext uri="{BB962C8B-B14F-4D97-AF65-F5344CB8AC3E}">
        <p14:creationId xmlns:p14="http://schemas.microsoft.com/office/powerpoint/2010/main" val="2475917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2C2F8-115E-451D-7C40-F19F31C20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31663-6DD1-AB6B-F4AB-1F298FB5AD20}"/>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Admin</a:t>
            </a:r>
          </a:p>
        </p:txBody>
      </p:sp>
      <p:sp>
        <p:nvSpPr>
          <p:cNvPr id="3" name="Content Placeholder 2">
            <a:extLst>
              <a:ext uri="{FF2B5EF4-FFF2-40B4-BE49-F238E27FC236}">
                <a16:creationId xmlns:a16="http://schemas.microsoft.com/office/drawing/2014/main" id="{9F09F621-96F7-45B9-5E15-E3918F427899}"/>
              </a:ext>
            </a:extLst>
          </p:cNvPr>
          <p:cNvSpPr>
            <a:spLocks noGrp="1"/>
          </p:cNvSpPr>
          <p:nvPr>
            <p:ph idx="1"/>
          </p:nvPr>
        </p:nvSpPr>
        <p:spPr>
          <a:xfrm>
            <a:off x="304799" y="1160206"/>
            <a:ext cx="11366089" cy="5016757"/>
          </a:xfrm>
        </p:spPr>
        <p:txBody>
          <a:bodyPr>
            <a:normAutofit/>
          </a:bodyPr>
          <a:lstStyle/>
          <a:p>
            <a:r>
              <a:rPr lang="en-IN" sz="1800" dirty="0">
                <a:solidFill>
                  <a:srgbClr val="0187CC"/>
                </a:solidFill>
              </a:rPr>
              <a:t>Now to check all the transaction that are done in between of the customer we simply click on the open button in the All transaction section which displays account number, description, amount, type, date.</a:t>
            </a:r>
          </a:p>
        </p:txBody>
      </p:sp>
      <p:pic>
        <p:nvPicPr>
          <p:cNvPr id="6" name="Picture 5">
            <a:extLst>
              <a:ext uri="{FF2B5EF4-FFF2-40B4-BE49-F238E27FC236}">
                <a16:creationId xmlns:a16="http://schemas.microsoft.com/office/drawing/2014/main" id="{A0EE42C4-9838-D693-3773-D379C9E7BE67}"/>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DDA5031F-EBAA-5D4C-4E4D-CACD358DAF6F}"/>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12</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2B52DC0C-2D3E-7A35-08C3-034A6F806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5" name="Picture 4">
            <a:extLst>
              <a:ext uri="{FF2B5EF4-FFF2-40B4-BE49-F238E27FC236}">
                <a16:creationId xmlns:a16="http://schemas.microsoft.com/office/drawing/2014/main" id="{A9613822-0F69-5FC3-9FAF-70D0240D11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4023" y="1788512"/>
            <a:ext cx="9207640" cy="4517498"/>
          </a:xfrm>
          <a:prstGeom prst="rect">
            <a:avLst/>
          </a:prstGeom>
        </p:spPr>
      </p:pic>
    </p:spTree>
    <p:extLst>
      <p:ext uri="{BB962C8B-B14F-4D97-AF65-F5344CB8AC3E}">
        <p14:creationId xmlns:p14="http://schemas.microsoft.com/office/powerpoint/2010/main" val="3223753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97298-19DD-086F-E817-6A1C89C83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38616-64B3-D914-1B0C-E4C341DD3B3F}"/>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User</a:t>
            </a:r>
          </a:p>
        </p:txBody>
      </p:sp>
      <p:sp>
        <p:nvSpPr>
          <p:cNvPr id="3" name="Content Placeholder 2">
            <a:extLst>
              <a:ext uri="{FF2B5EF4-FFF2-40B4-BE49-F238E27FC236}">
                <a16:creationId xmlns:a16="http://schemas.microsoft.com/office/drawing/2014/main" id="{D92B0603-18CE-EF02-08FF-B2F41220E603}"/>
              </a:ext>
            </a:extLst>
          </p:cNvPr>
          <p:cNvSpPr>
            <a:spLocks noGrp="1"/>
          </p:cNvSpPr>
          <p:nvPr>
            <p:ph idx="1"/>
          </p:nvPr>
        </p:nvSpPr>
        <p:spPr>
          <a:xfrm>
            <a:off x="304799" y="1160206"/>
            <a:ext cx="11366089" cy="5016757"/>
          </a:xfrm>
        </p:spPr>
        <p:txBody>
          <a:bodyPr>
            <a:normAutofit/>
          </a:bodyPr>
          <a:lstStyle/>
          <a:p>
            <a:r>
              <a:rPr lang="en-IN" sz="1800" dirty="0">
                <a:solidFill>
                  <a:srgbClr val="0187CC"/>
                </a:solidFill>
              </a:rPr>
              <a:t>Now we login as the user using the username and password, So the user has only some privileges such as My Accounts,  Fund Transfer, Money Received, and My Transaction.</a:t>
            </a:r>
          </a:p>
        </p:txBody>
      </p:sp>
      <p:pic>
        <p:nvPicPr>
          <p:cNvPr id="6" name="Picture 5">
            <a:extLst>
              <a:ext uri="{FF2B5EF4-FFF2-40B4-BE49-F238E27FC236}">
                <a16:creationId xmlns:a16="http://schemas.microsoft.com/office/drawing/2014/main" id="{1DFC8280-EE06-CAD6-1A79-4F80280593AF}"/>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F889CF92-D0D9-361E-6CE3-3BDA19332F93}"/>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13</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7DA1C3FC-3625-E2FF-6742-B9AE85761C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9" name="Picture 8">
            <a:extLst>
              <a:ext uri="{FF2B5EF4-FFF2-40B4-BE49-F238E27FC236}">
                <a16:creationId xmlns:a16="http://schemas.microsoft.com/office/drawing/2014/main" id="{022D1747-6183-066C-E386-AFEBC5D04A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3443" y="1749429"/>
            <a:ext cx="9448800" cy="4553141"/>
          </a:xfrm>
          <a:prstGeom prst="rect">
            <a:avLst/>
          </a:prstGeom>
        </p:spPr>
      </p:pic>
    </p:spTree>
    <p:extLst>
      <p:ext uri="{BB962C8B-B14F-4D97-AF65-F5344CB8AC3E}">
        <p14:creationId xmlns:p14="http://schemas.microsoft.com/office/powerpoint/2010/main" val="2029638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EC62A-CD4A-6D96-B3E1-77FB4A452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251AB-502D-7115-125D-D62A320EF77B}"/>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User</a:t>
            </a:r>
          </a:p>
        </p:txBody>
      </p:sp>
      <p:sp>
        <p:nvSpPr>
          <p:cNvPr id="3" name="Content Placeholder 2">
            <a:extLst>
              <a:ext uri="{FF2B5EF4-FFF2-40B4-BE49-F238E27FC236}">
                <a16:creationId xmlns:a16="http://schemas.microsoft.com/office/drawing/2014/main" id="{72C5311D-E243-BC7A-FFDD-EFE57976ABD1}"/>
              </a:ext>
            </a:extLst>
          </p:cNvPr>
          <p:cNvSpPr>
            <a:spLocks noGrp="1"/>
          </p:cNvSpPr>
          <p:nvPr>
            <p:ph idx="1"/>
          </p:nvPr>
        </p:nvSpPr>
        <p:spPr>
          <a:xfrm>
            <a:off x="304799" y="983226"/>
            <a:ext cx="11366089" cy="5193737"/>
          </a:xfrm>
        </p:spPr>
        <p:txBody>
          <a:bodyPr>
            <a:normAutofit/>
          </a:bodyPr>
          <a:lstStyle/>
          <a:p>
            <a:r>
              <a:rPr lang="en-IN" sz="1800" dirty="0">
                <a:solidFill>
                  <a:srgbClr val="0187CC"/>
                </a:solidFill>
              </a:rPr>
              <a:t>Now to transfer the funds we click on the open button which asks for the fund transfer details such as from account number , to account number , and the amount to transfer</a:t>
            </a:r>
          </a:p>
        </p:txBody>
      </p:sp>
      <p:pic>
        <p:nvPicPr>
          <p:cNvPr id="6" name="Picture 5">
            <a:extLst>
              <a:ext uri="{FF2B5EF4-FFF2-40B4-BE49-F238E27FC236}">
                <a16:creationId xmlns:a16="http://schemas.microsoft.com/office/drawing/2014/main" id="{DCCE0DF0-882B-53AF-1A6D-2DBF83FA0915}"/>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9C082534-78E6-DB07-8BBE-BF887747F3AB}"/>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14</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0632F779-DCB4-105E-AB5B-8465581F9C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5" name="Picture 4">
            <a:extLst>
              <a:ext uri="{FF2B5EF4-FFF2-40B4-BE49-F238E27FC236}">
                <a16:creationId xmlns:a16="http://schemas.microsoft.com/office/drawing/2014/main" id="{D1830D8E-B1F4-5845-35D4-BE8C8571E6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6849" y="1714933"/>
            <a:ext cx="9261987" cy="4468909"/>
          </a:xfrm>
          <a:prstGeom prst="rect">
            <a:avLst/>
          </a:prstGeom>
        </p:spPr>
      </p:pic>
    </p:spTree>
    <p:extLst>
      <p:ext uri="{BB962C8B-B14F-4D97-AF65-F5344CB8AC3E}">
        <p14:creationId xmlns:p14="http://schemas.microsoft.com/office/powerpoint/2010/main" val="2942182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C4937-3633-B5D9-D2D2-8B45B24D6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30F381-026E-ADF0-68E1-EA5043C7A4BA}"/>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User</a:t>
            </a:r>
          </a:p>
        </p:txBody>
      </p:sp>
      <p:sp>
        <p:nvSpPr>
          <p:cNvPr id="3" name="Content Placeholder 2">
            <a:extLst>
              <a:ext uri="{FF2B5EF4-FFF2-40B4-BE49-F238E27FC236}">
                <a16:creationId xmlns:a16="http://schemas.microsoft.com/office/drawing/2014/main" id="{AA1555A5-067B-983A-B734-6CA038B41EE9}"/>
              </a:ext>
            </a:extLst>
          </p:cNvPr>
          <p:cNvSpPr>
            <a:spLocks noGrp="1"/>
          </p:cNvSpPr>
          <p:nvPr>
            <p:ph idx="1"/>
          </p:nvPr>
        </p:nvSpPr>
        <p:spPr>
          <a:xfrm>
            <a:off x="304799" y="983226"/>
            <a:ext cx="11366089" cy="5193737"/>
          </a:xfrm>
        </p:spPr>
        <p:txBody>
          <a:bodyPr>
            <a:normAutofit/>
          </a:bodyPr>
          <a:lstStyle/>
          <a:p>
            <a:r>
              <a:rPr lang="en-IN" sz="1800" dirty="0">
                <a:solidFill>
                  <a:srgbClr val="0187CC"/>
                </a:solidFill>
              </a:rPr>
              <a:t>Now to Check if the money is received simply click on the open button in the money received section so it displays the details like the from account, amount, and the Date.</a:t>
            </a:r>
          </a:p>
        </p:txBody>
      </p:sp>
      <p:pic>
        <p:nvPicPr>
          <p:cNvPr id="6" name="Picture 5">
            <a:extLst>
              <a:ext uri="{FF2B5EF4-FFF2-40B4-BE49-F238E27FC236}">
                <a16:creationId xmlns:a16="http://schemas.microsoft.com/office/drawing/2014/main" id="{C2E0E955-B556-3716-F4D2-16DEFC7089C6}"/>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4D26707E-1F1C-44E2-5F43-60580236CC48}"/>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15</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85F441FD-8F4F-D89E-95C4-67A24B61D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9" name="Picture 8">
            <a:extLst>
              <a:ext uri="{FF2B5EF4-FFF2-40B4-BE49-F238E27FC236}">
                <a16:creationId xmlns:a16="http://schemas.microsoft.com/office/drawing/2014/main" id="{1AA36D7C-7B6F-0BF0-5DD5-CF81734EB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2942" y="1823245"/>
            <a:ext cx="9606116" cy="4604932"/>
          </a:xfrm>
          <a:prstGeom prst="rect">
            <a:avLst/>
          </a:prstGeom>
        </p:spPr>
      </p:pic>
    </p:spTree>
    <p:extLst>
      <p:ext uri="{BB962C8B-B14F-4D97-AF65-F5344CB8AC3E}">
        <p14:creationId xmlns:p14="http://schemas.microsoft.com/office/powerpoint/2010/main" val="2968771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850F8-66C5-DE3F-40AC-51AB99DC6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D82A0-2EE6-C8DE-1498-4D9F56DAE41F}"/>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Frontend Design - User</a:t>
            </a:r>
          </a:p>
        </p:txBody>
      </p:sp>
      <p:sp>
        <p:nvSpPr>
          <p:cNvPr id="3" name="Content Placeholder 2">
            <a:extLst>
              <a:ext uri="{FF2B5EF4-FFF2-40B4-BE49-F238E27FC236}">
                <a16:creationId xmlns:a16="http://schemas.microsoft.com/office/drawing/2014/main" id="{07C5E89C-1FD4-8257-E6D5-3AEA8008C356}"/>
              </a:ext>
            </a:extLst>
          </p:cNvPr>
          <p:cNvSpPr>
            <a:spLocks noGrp="1"/>
          </p:cNvSpPr>
          <p:nvPr>
            <p:ph idx="1"/>
          </p:nvPr>
        </p:nvSpPr>
        <p:spPr>
          <a:xfrm>
            <a:off x="304799" y="983226"/>
            <a:ext cx="11366089" cy="5193737"/>
          </a:xfrm>
        </p:spPr>
        <p:txBody>
          <a:bodyPr>
            <a:normAutofit/>
          </a:bodyPr>
          <a:lstStyle/>
          <a:p>
            <a:r>
              <a:rPr lang="en-IN" sz="1800" dirty="0">
                <a:solidFill>
                  <a:srgbClr val="0187CC"/>
                </a:solidFill>
              </a:rPr>
              <a:t>Now to View all the transaction done by the user we simply click on the open button in my transaction section which displays all the transaction done by the user.</a:t>
            </a:r>
          </a:p>
        </p:txBody>
      </p:sp>
      <p:pic>
        <p:nvPicPr>
          <p:cNvPr id="6" name="Picture 5">
            <a:extLst>
              <a:ext uri="{FF2B5EF4-FFF2-40B4-BE49-F238E27FC236}">
                <a16:creationId xmlns:a16="http://schemas.microsoft.com/office/drawing/2014/main" id="{090B9F9F-805F-0015-6A2E-9B22AEE7A39B}"/>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864D999C-1FBA-981E-D6AE-E5412D7B5DD9}"/>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16</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8F09A334-FF06-8B60-DFAD-B1C6E51E5A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5" name="Picture 4">
            <a:extLst>
              <a:ext uri="{FF2B5EF4-FFF2-40B4-BE49-F238E27FC236}">
                <a16:creationId xmlns:a16="http://schemas.microsoft.com/office/drawing/2014/main" id="{79C76B0C-0858-F56A-0AB6-90213B8842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953" y="1723475"/>
            <a:ext cx="9545043" cy="4575655"/>
          </a:xfrm>
          <a:prstGeom prst="rect">
            <a:avLst/>
          </a:prstGeom>
        </p:spPr>
      </p:pic>
    </p:spTree>
    <p:extLst>
      <p:ext uri="{BB962C8B-B14F-4D97-AF65-F5344CB8AC3E}">
        <p14:creationId xmlns:p14="http://schemas.microsoft.com/office/powerpoint/2010/main" val="3328724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33F54-E12D-7697-6E41-56F0DC2AD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0C54B-1FBC-309D-3BD9-B15B1D375B31}"/>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Deploying the Project on Docker</a:t>
            </a:r>
          </a:p>
        </p:txBody>
      </p:sp>
      <p:sp>
        <p:nvSpPr>
          <p:cNvPr id="3" name="Content Placeholder 2">
            <a:extLst>
              <a:ext uri="{FF2B5EF4-FFF2-40B4-BE49-F238E27FC236}">
                <a16:creationId xmlns:a16="http://schemas.microsoft.com/office/drawing/2014/main" id="{6F3E7950-C0A3-B18C-E2EB-12827B3C6DD6}"/>
              </a:ext>
            </a:extLst>
          </p:cNvPr>
          <p:cNvSpPr>
            <a:spLocks noGrp="1"/>
          </p:cNvSpPr>
          <p:nvPr>
            <p:ph idx="1"/>
          </p:nvPr>
        </p:nvSpPr>
        <p:spPr>
          <a:xfrm>
            <a:off x="304799" y="983226"/>
            <a:ext cx="11366089" cy="5193737"/>
          </a:xfrm>
        </p:spPr>
        <p:txBody>
          <a:bodyPr>
            <a:normAutofit/>
          </a:bodyPr>
          <a:lstStyle/>
          <a:p>
            <a:r>
              <a:rPr lang="en-IN" sz="1800" dirty="0">
                <a:solidFill>
                  <a:srgbClr val="0187CC"/>
                </a:solidFill>
              </a:rPr>
              <a:t>So after the complete integrations and test we deploy the backend on the Docker first by creating a file named as “</a:t>
            </a:r>
            <a:r>
              <a:rPr lang="en-IN" sz="1800" dirty="0" err="1">
                <a:solidFill>
                  <a:srgbClr val="0187CC"/>
                </a:solidFill>
              </a:rPr>
              <a:t>Dockerfile</a:t>
            </a:r>
            <a:r>
              <a:rPr lang="en-IN" sz="1800" dirty="0">
                <a:solidFill>
                  <a:srgbClr val="0187CC"/>
                </a:solidFill>
              </a:rPr>
              <a:t>” which consist some configurations.</a:t>
            </a:r>
          </a:p>
          <a:p>
            <a:r>
              <a:rPr lang="en-IN" sz="1800" dirty="0">
                <a:solidFill>
                  <a:srgbClr val="0187CC"/>
                </a:solidFill>
              </a:rPr>
              <a:t>Then after that we simply run the following commands in CMD: docker build –t banking-app for building the docker image and to run the container we use: docker run –p 8083:8083 banking-app</a:t>
            </a:r>
          </a:p>
        </p:txBody>
      </p:sp>
      <p:pic>
        <p:nvPicPr>
          <p:cNvPr id="6" name="Picture 5">
            <a:extLst>
              <a:ext uri="{FF2B5EF4-FFF2-40B4-BE49-F238E27FC236}">
                <a16:creationId xmlns:a16="http://schemas.microsoft.com/office/drawing/2014/main" id="{A924CBFF-B24C-39CF-51CD-81EDC380F232}"/>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BD8F3913-DA37-4BD2-E485-191D09D334CC}"/>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17</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B554A267-F0A7-FBEA-8EF7-C556636327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9" name="Picture 8">
            <a:extLst>
              <a:ext uri="{FF2B5EF4-FFF2-40B4-BE49-F238E27FC236}">
                <a16:creationId xmlns:a16="http://schemas.microsoft.com/office/drawing/2014/main" id="{39D7BB14-B003-C0F0-5D35-89FDB744C6DF}"/>
              </a:ext>
            </a:extLst>
          </p:cNvPr>
          <p:cNvPicPr>
            <a:picLocks noChangeAspect="1"/>
          </p:cNvPicPr>
          <p:nvPr/>
        </p:nvPicPr>
        <p:blipFill>
          <a:blip r:embed="rId4">
            <a:extLst>
              <a:ext uri="{28A0092B-C50C-407E-A947-70E740481C1C}">
                <a14:useLocalDpi xmlns:a14="http://schemas.microsoft.com/office/drawing/2010/main" val="0"/>
              </a:ext>
            </a:extLst>
          </a:blip>
          <a:srcRect l="31730" r="14394" b="37081"/>
          <a:stretch>
            <a:fillRect/>
          </a:stretch>
        </p:blipFill>
        <p:spPr>
          <a:xfrm>
            <a:off x="1797465" y="4516443"/>
            <a:ext cx="4462313" cy="2107605"/>
          </a:xfrm>
          <a:prstGeom prst="rect">
            <a:avLst/>
          </a:prstGeom>
        </p:spPr>
      </p:pic>
      <p:pic>
        <p:nvPicPr>
          <p:cNvPr id="11" name="Picture 10">
            <a:extLst>
              <a:ext uri="{FF2B5EF4-FFF2-40B4-BE49-F238E27FC236}">
                <a16:creationId xmlns:a16="http://schemas.microsoft.com/office/drawing/2014/main" id="{97B1E4B7-F6F7-811A-5084-C896F7131EAF}"/>
              </a:ext>
            </a:extLst>
          </p:cNvPr>
          <p:cNvPicPr>
            <a:picLocks noChangeAspect="1"/>
          </p:cNvPicPr>
          <p:nvPr/>
        </p:nvPicPr>
        <p:blipFill>
          <a:blip r:embed="rId5">
            <a:extLst>
              <a:ext uri="{28A0092B-C50C-407E-A947-70E740481C1C}">
                <a14:useLocalDpi xmlns:a14="http://schemas.microsoft.com/office/drawing/2010/main" val="0"/>
              </a:ext>
            </a:extLst>
          </a:blip>
          <a:srcRect l="15615" t="12017" b="19402"/>
          <a:stretch>
            <a:fillRect/>
          </a:stretch>
        </p:blipFill>
        <p:spPr>
          <a:xfrm>
            <a:off x="6360608" y="2287862"/>
            <a:ext cx="5157662" cy="2165933"/>
          </a:xfrm>
          <a:prstGeom prst="rect">
            <a:avLst/>
          </a:prstGeom>
        </p:spPr>
      </p:pic>
      <p:pic>
        <p:nvPicPr>
          <p:cNvPr id="13" name="Picture 12">
            <a:extLst>
              <a:ext uri="{FF2B5EF4-FFF2-40B4-BE49-F238E27FC236}">
                <a16:creationId xmlns:a16="http://schemas.microsoft.com/office/drawing/2014/main" id="{BC5C35A8-6378-2190-091E-CE15D5281B10}"/>
              </a:ext>
            </a:extLst>
          </p:cNvPr>
          <p:cNvPicPr>
            <a:picLocks noChangeAspect="1"/>
          </p:cNvPicPr>
          <p:nvPr/>
        </p:nvPicPr>
        <p:blipFill>
          <a:blip r:embed="rId6">
            <a:extLst>
              <a:ext uri="{28A0092B-C50C-407E-A947-70E740481C1C}">
                <a14:useLocalDpi xmlns:a14="http://schemas.microsoft.com/office/drawing/2010/main" val="0"/>
              </a:ext>
            </a:extLst>
          </a:blip>
          <a:srcRect l="15890" t="10428" b="35766"/>
          <a:stretch>
            <a:fillRect/>
          </a:stretch>
        </p:blipFill>
        <p:spPr>
          <a:xfrm>
            <a:off x="673730" y="2287863"/>
            <a:ext cx="5586049" cy="2146978"/>
          </a:xfrm>
          <a:prstGeom prst="rect">
            <a:avLst/>
          </a:prstGeom>
        </p:spPr>
      </p:pic>
    </p:spTree>
    <p:extLst>
      <p:ext uri="{BB962C8B-B14F-4D97-AF65-F5344CB8AC3E}">
        <p14:creationId xmlns:p14="http://schemas.microsoft.com/office/powerpoint/2010/main" val="3144316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AB949-B40D-3A05-2B4F-8E920FB56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7DB66-F292-77C2-35DD-23AA936DB563}"/>
              </a:ext>
            </a:extLst>
          </p:cNvPr>
          <p:cNvSpPr>
            <a:spLocks noGrp="1"/>
          </p:cNvSpPr>
          <p:nvPr>
            <p:ph type="title"/>
          </p:nvPr>
        </p:nvSpPr>
        <p:spPr>
          <a:xfrm>
            <a:off x="304800" y="180257"/>
            <a:ext cx="11366090" cy="901291"/>
          </a:xfrm>
        </p:spPr>
        <p:txBody>
          <a:bodyPr>
            <a:normAutofit/>
          </a:bodyPr>
          <a:lstStyle/>
          <a:p>
            <a:r>
              <a:rPr lang="en-IN" sz="3200" dirty="0">
                <a:solidFill>
                  <a:srgbClr val="0187CC"/>
                </a:solidFill>
                <a:latin typeface="HK Grotesk Bold"/>
              </a:rPr>
              <a:t>Deploying the Project on Azure</a:t>
            </a:r>
          </a:p>
        </p:txBody>
      </p:sp>
      <p:sp>
        <p:nvSpPr>
          <p:cNvPr id="3" name="Content Placeholder 2">
            <a:extLst>
              <a:ext uri="{FF2B5EF4-FFF2-40B4-BE49-F238E27FC236}">
                <a16:creationId xmlns:a16="http://schemas.microsoft.com/office/drawing/2014/main" id="{96159CFB-307B-18EA-34B7-A24241ED00F9}"/>
              </a:ext>
            </a:extLst>
          </p:cNvPr>
          <p:cNvSpPr>
            <a:spLocks noGrp="1"/>
          </p:cNvSpPr>
          <p:nvPr>
            <p:ph idx="1"/>
          </p:nvPr>
        </p:nvSpPr>
        <p:spPr>
          <a:xfrm>
            <a:off x="304799" y="983226"/>
            <a:ext cx="11366089" cy="5193737"/>
          </a:xfrm>
        </p:spPr>
        <p:txBody>
          <a:bodyPr>
            <a:normAutofit/>
          </a:bodyPr>
          <a:lstStyle/>
          <a:p>
            <a:r>
              <a:rPr lang="en-IN" sz="1800" dirty="0">
                <a:solidFill>
                  <a:srgbClr val="0187CC"/>
                </a:solidFill>
              </a:rPr>
              <a:t>Now After deploying on the docker we deploy the backend on the azure by creating the app-service, So first we push the backend code in the </a:t>
            </a:r>
            <a:r>
              <a:rPr lang="en-IN" sz="1800" dirty="0" err="1">
                <a:solidFill>
                  <a:srgbClr val="0187CC"/>
                </a:solidFill>
              </a:rPr>
              <a:t>github</a:t>
            </a:r>
            <a:r>
              <a:rPr lang="en-IN" sz="1800" dirty="0">
                <a:solidFill>
                  <a:srgbClr val="0187CC"/>
                </a:solidFill>
              </a:rPr>
              <a:t> and then create a resource group in the azure.</a:t>
            </a:r>
          </a:p>
          <a:p>
            <a:r>
              <a:rPr lang="en-IN" sz="1800" dirty="0">
                <a:solidFill>
                  <a:srgbClr val="0187CC"/>
                </a:solidFill>
              </a:rPr>
              <a:t>Then Inside the resource group we create the an app service and give the name of the app service and then connect the backend repo through the </a:t>
            </a:r>
            <a:r>
              <a:rPr lang="en-IN" sz="1800" dirty="0" err="1">
                <a:solidFill>
                  <a:srgbClr val="0187CC"/>
                </a:solidFill>
              </a:rPr>
              <a:t>github</a:t>
            </a:r>
            <a:r>
              <a:rPr lang="en-IN" sz="1800" dirty="0">
                <a:solidFill>
                  <a:srgbClr val="0187CC"/>
                </a:solidFill>
              </a:rPr>
              <a:t>. After this an </a:t>
            </a:r>
            <a:r>
              <a:rPr lang="en-IN" sz="1800" dirty="0" err="1">
                <a:solidFill>
                  <a:srgbClr val="0187CC"/>
                </a:solidFill>
              </a:rPr>
              <a:t>url</a:t>
            </a:r>
            <a:r>
              <a:rPr lang="en-IN" sz="1800" dirty="0">
                <a:solidFill>
                  <a:srgbClr val="0187CC"/>
                </a:solidFill>
              </a:rPr>
              <a:t> is shown as “http://capstoneazure-cseqhzdsa3d6dcb6.centralus-01.azurewebsites.net” , and replace this </a:t>
            </a:r>
            <a:r>
              <a:rPr lang="en-IN" sz="1800" dirty="0" err="1">
                <a:solidFill>
                  <a:srgbClr val="0187CC"/>
                </a:solidFill>
              </a:rPr>
              <a:t>url</a:t>
            </a:r>
            <a:r>
              <a:rPr lang="en-IN" sz="1800" dirty="0">
                <a:solidFill>
                  <a:srgbClr val="0187CC"/>
                </a:solidFill>
              </a:rPr>
              <a:t> in the frontend instead of the localhost:8083.</a:t>
            </a:r>
          </a:p>
        </p:txBody>
      </p:sp>
      <p:pic>
        <p:nvPicPr>
          <p:cNvPr id="6" name="Picture 5">
            <a:extLst>
              <a:ext uri="{FF2B5EF4-FFF2-40B4-BE49-F238E27FC236}">
                <a16:creationId xmlns:a16="http://schemas.microsoft.com/office/drawing/2014/main" id="{318C8DC1-E1C7-7F20-DC32-255433673AED}"/>
              </a:ext>
            </a:extLst>
          </p:cNvPr>
          <p:cNvPicPr>
            <a:picLocks noChangeAspect="1"/>
          </p:cNvPicPr>
          <p:nvPr/>
        </p:nvPicPr>
        <p:blipFill>
          <a:blip r:embed="rId2"/>
          <a:stretch>
            <a:fillRect/>
          </a:stretch>
        </p:blipFill>
        <p:spPr>
          <a:xfrm>
            <a:off x="4066124" y="6435056"/>
            <a:ext cx="6370872" cy="377985"/>
          </a:xfrm>
          <a:prstGeom prst="rect">
            <a:avLst/>
          </a:prstGeom>
        </p:spPr>
      </p:pic>
      <p:sp>
        <p:nvSpPr>
          <p:cNvPr id="7" name="Slide Number Placeholder 5">
            <a:extLst>
              <a:ext uri="{FF2B5EF4-FFF2-40B4-BE49-F238E27FC236}">
                <a16:creationId xmlns:a16="http://schemas.microsoft.com/office/drawing/2014/main" id="{6A140A2F-A613-9D2D-C5C3-FE6C322E469E}"/>
              </a:ext>
            </a:extLst>
          </p:cNvPr>
          <p:cNvSpPr>
            <a:spLocks noGrp="1"/>
          </p:cNvSpPr>
          <p:nvPr>
            <p:ph type="sldNum" sz="quarter" idx="12"/>
          </p:nvPr>
        </p:nvSpPr>
        <p:spPr>
          <a:xfrm>
            <a:off x="8670891" y="6428177"/>
            <a:ext cx="2743200" cy="365125"/>
          </a:xfrm>
        </p:spPr>
        <p:txBody>
          <a:bodyPr/>
          <a:lstStyle/>
          <a:p>
            <a:fld id="{C8F35010-364B-470B-BB6C-DCBBE63D2E54}" type="slidenum">
              <a:rPr lang="en-US" smtClean="0">
                <a:solidFill>
                  <a:schemeClr val="tx1"/>
                </a:solidFill>
              </a:rPr>
              <a:t>18</a:t>
            </a:fld>
            <a:endParaRPr lang="en-US" dirty="0">
              <a:solidFill>
                <a:schemeClr val="tx1"/>
              </a:solidFill>
            </a:endParaRPr>
          </a:p>
        </p:txBody>
      </p:sp>
      <p:pic>
        <p:nvPicPr>
          <p:cNvPr id="8" name="Picture 7" descr="Logo&#10;&#10;Description automatically generated">
            <a:extLst>
              <a:ext uri="{FF2B5EF4-FFF2-40B4-BE49-F238E27FC236}">
                <a16:creationId xmlns:a16="http://schemas.microsoft.com/office/drawing/2014/main" id="{996E07A7-EB07-162D-1576-132AACB00D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11" y="6435056"/>
            <a:ext cx="645766" cy="422937"/>
          </a:xfrm>
          <a:prstGeom prst="rect">
            <a:avLst/>
          </a:prstGeom>
        </p:spPr>
      </p:pic>
      <p:pic>
        <p:nvPicPr>
          <p:cNvPr id="11" name="Picture 10">
            <a:extLst>
              <a:ext uri="{FF2B5EF4-FFF2-40B4-BE49-F238E27FC236}">
                <a16:creationId xmlns:a16="http://schemas.microsoft.com/office/drawing/2014/main" id="{2BF6383A-E3FC-A11B-8028-5E03F03FFB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2440" y="2979174"/>
            <a:ext cx="5944761" cy="2895600"/>
          </a:xfrm>
          <a:prstGeom prst="rect">
            <a:avLst/>
          </a:prstGeom>
        </p:spPr>
      </p:pic>
      <p:pic>
        <p:nvPicPr>
          <p:cNvPr id="13" name="Picture 12">
            <a:extLst>
              <a:ext uri="{FF2B5EF4-FFF2-40B4-BE49-F238E27FC236}">
                <a16:creationId xmlns:a16="http://schemas.microsoft.com/office/drawing/2014/main" id="{E97AF95E-45D7-A6A3-DC78-8C790E4EAA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97" y="2979174"/>
            <a:ext cx="5275711" cy="2895600"/>
          </a:xfrm>
          <a:prstGeom prst="rect">
            <a:avLst/>
          </a:prstGeom>
        </p:spPr>
      </p:pic>
    </p:spTree>
    <p:extLst>
      <p:ext uri="{BB962C8B-B14F-4D97-AF65-F5344CB8AC3E}">
        <p14:creationId xmlns:p14="http://schemas.microsoft.com/office/powerpoint/2010/main" val="1998461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3318</TotalTime>
  <Words>1217</Words>
  <Application>Microsoft Office PowerPoint</Application>
  <PresentationFormat>Widescreen</PresentationFormat>
  <Paragraphs>82</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Aptos Display</vt:lpstr>
      <vt:lpstr>Arial</vt:lpstr>
      <vt:lpstr>Calibri</vt:lpstr>
      <vt:lpstr>HK Grotesk</vt:lpstr>
      <vt:lpstr>HK Grotesk Bold</vt:lpstr>
      <vt:lpstr>HK Grotesk Light</vt:lpstr>
      <vt:lpstr>HK Grotesk Light Bold</vt:lpstr>
      <vt:lpstr>Office Theme</vt:lpstr>
      <vt:lpstr>PowerPoint Presentation</vt:lpstr>
      <vt:lpstr>PowerPoint Presentation</vt:lpstr>
      <vt:lpstr>Starting With Backend</vt:lpstr>
      <vt:lpstr>Creating the Structure And Providing Configurations</vt:lpstr>
      <vt:lpstr>Writing the Code</vt:lpstr>
      <vt:lpstr>Testing Using Postman</vt:lpstr>
      <vt:lpstr>Frontend Design - Admin</vt:lpstr>
      <vt:lpstr>Frontend Design - Admin</vt:lpstr>
      <vt:lpstr>Frontend Design - Admin</vt:lpstr>
      <vt:lpstr>Frontend Design - Admin</vt:lpstr>
      <vt:lpstr>Frontend Design - Admin</vt:lpstr>
      <vt:lpstr>Frontend Design - Admin</vt:lpstr>
      <vt:lpstr>Frontend Design - User</vt:lpstr>
      <vt:lpstr>Frontend Design - User</vt:lpstr>
      <vt:lpstr>Frontend Design - User</vt:lpstr>
      <vt:lpstr>Frontend Design - User</vt:lpstr>
      <vt:lpstr>Deploying the Project on Docker</vt:lpstr>
      <vt:lpstr>Deploying the Project on Azure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Kunal Kumar Amar</cp:lastModifiedBy>
  <cp:revision>18</cp:revision>
  <dcterms:created xsi:type="dcterms:W3CDTF">2024-05-04T13:11:57Z</dcterms:created>
  <dcterms:modified xsi:type="dcterms:W3CDTF">2026-02-09T06:24:57Z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2026-02-04T04:06:58Z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0c3cc09a-e54e-4ae4-a9fa-efa3f9d629ce</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General - RPS Data</vt:lpwstr>
  </property>
</Properties>
</file>